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9760E-CB2C-403A-B237-A5B0A204F263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EBB52-CA95-4950-9FB5-C89FC0B1633F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997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E5BDD3-3D54-4F90-8B00-F4A4A294D858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DAFFDA-496F-418F-92A9-47908C0508ED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468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9D7F83-E6F4-4FCA-8BBC-DF66CB14678E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88ED4-C856-49A5-8D6A-E23D259839C2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2558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922465-B775-4053-86F3-263AA3B6850E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6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AF790-FD91-46F0-9C59-9E89E9CEEF86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7237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90D12-EAB8-4DC5-B485-C26391EFB6ED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8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C92C2-AF2E-43B0-83B9-92AFF9297B9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0522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41D13-2FFE-4D21-A237-5C7666BE692F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4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6D265A-7CDB-4227-86AF-9EDC808BFAE0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406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E42A5-601A-43A3-8C21-EB1AA6FAC17E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3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AB049-40BA-4DC6-BF34-8A65B43F289C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038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96D94-9D15-439E-9CE7-937E9897F0E7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6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179B4-80BB-4699-BDFD-F54CAE1E846C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6580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84894D-BC3F-4DBB-B5CF-B9D305AC82C9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6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83E3B-20D5-4455-A2A5-79646AC71FBC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260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B7CA3-F6AA-4F8D-B3A5-B5190E4DA0D9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D47DD-DBFB-4E8D-8207-117C7C82CE20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8287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477EC-8CD1-45DA-9726-69E4B67F9162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7365C-AF66-4542-B1B0-4388B6DC1013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193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egnaposto tito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 smtClean="0"/>
              <a:t>Fare clic per modificare lo stile del titolo</a:t>
            </a:r>
          </a:p>
        </p:txBody>
      </p:sp>
      <p:sp>
        <p:nvSpPr>
          <p:cNvPr id="1027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 smtClean="0"/>
              <a:t>Fare clic per modificare stili del testo dello schema</a:t>
            </a:r>
          </a:p>
          <a:p>
            <a:pPr lvl="1"/>
            <a:r>
              <a:rPr lang="it-IT" altLang="en-US" smtClean="0"/>
              <a:t>Secondo livello</a:t>
            </a:r>
          </a:p>
          <a:p>
            <a:pPr lvl="2"/>
            <a:r>
              <a:rPr lang="it-IT" altLang="en-US" smtClean="0"/>
              <a:t>Terzo livello</a:t>
            </a:r>
          </a:p>
          <a:p>
            <a:pPr lvl="3"/>
            <a:r>
              <a:rPr lang="it-IT" altLang="en-US" smtClean="0"/>
              <a:t>Quarto livello</a:t>
            </a:r>
          </a:p>
          <a:p>
            <a:pPr lvl="4"/>
            <a:r>
              <a:rPr lang="it-IT" altLang="en-US" smtClean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38D2C8-3969-4987-986C-3A36C89A46F6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7612B2B-2AA7-48E6-BF3B-AF97DAE8195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ejel.org/Volume-7/v7-i1/Hall.pdf" TargetMode="External"/><Relationship Id="rId3" Type="http://schemas.openxmlformats.org/officeDocument/2006/relationships/hyperlink" Target="http://www.ejel.org/" TargetMode="External"/><Relationship Id="rId7" Type="http://schemas.openxmlformats.org/officeDocument/2006/relationships/hyperlink" Target="http://www.tlrp.org/docs/DigitalLiteracies.pdf" TargetMode="External"/><Relationship Id="rId12" Type="http://schemas.openxmlformats.org/officeDocument/2006/relationships/hyperlink" Target="http://0-web.ebscohost.com.emu.londonmet.ac.uk/ehost/detail?vid=7&amp;hid=104&amp;sid=aaa3543f-18c3-42b9-bbf6-c8729c527d12@sessionmgr112&amp;bdata=JnNpdGU9ZWhvc3QtbGl2ZQ%3d%3d#db=ehh&amp;AN=23647698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oro.open.ac.uk/12149/1/S0958344008000220a.pdf" TargetMode="External"/><Relationship Id="rId11" Type="http://schemas.openxmlformats.org/officeDocument/2006/relationships/hyperlink" Target="http://www.jisc.ac.uk/publications/generalpublications/2009/heweb2.aspx" TargetMode="External"/><Relationship Id="rId5" Type="http://schemas.openxmlformats.org/officeDocument/2006/relationships/hyperlink" Target="http://kn.open.ac.uk/LiDU/Seminar2/Beetham_et_al_paper.doc" TargetMode="External"/><Relationship Id="rId10" Type="http://schemas.openxmlformats.org/officeDocument/2006/relationships/hyperlink" Target="http://www.malts.ed.ac.uk/staff/sian/JCALpaper_final.pdf" TargetMode="External"/><Relationship Id="rId4" Type="http://schemas.openxmlformats.org/officeDocument/2006/relationships/hyperlink" Target="http://0-search.ebscohost.com.emu.londonmet.ac.uk/login.aspx?direct=true&amp;db=ehh&amp;AN=19651273&amp;site=ehost-live" TargetMode="External"/><Relationship Id="rId9" Type="http://schemas.openxmlformats.org/officeDocument/2006/relationships/hyperlink" Target="http://0-auto468065.library.ingentaconnect.com.emu.londonmet.ac.uk/content/bsc/jca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05025"/>
            <a:ext cx="12192000" cy="474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63" y="676275"/>
            <a:ext cx="1870075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nettore 1 6"/>
          <p:cNvCxnSpPr/>
          <p:nvPr/>
        </p:nvCxnSpPr>
        <p:spPr>
          <a:xfrm>
            <a:off x="2663825" y="479425"/>
            <a:ext cx="4763" cy="2374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CasellaDiTesto 11"/>
          <p:cNvSpPr txBox="1">
            <a:spLocks noChangeArrowheads="1"/>
          </p:cNvSpPr>
          <p:nvPr/>
        </p:nvSpPr>
        <p:spPr bwMode="auto">
          <a:xfrm>
            <a:off x="3111500" y="773113"/>
            <a:ext cx="7081838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GB" altLang="it-IT" sz="5400">
                <a:latin typeface="Optima" pitchFamily="34" charset="0"/>
              </a:rPr>
              <a:t>Titolo generale </a:t>
            </a:r>
          </a:p>
          <a:p>
            <a:pPr eaLnBrk="1" hangingPunct="1"/>
            <a:r>
              <a:rPr lang="en-GB" altLang="it-IT" sz="5400">
                <a:latin typeface="Optima" pitchFamily="34" charset="0"/>
              </a:rPr>
              <a:t>Optima 54 non bold</a:t>
            </a:r>
            <a:endParaRPr lang="it-IT" altLang="en-US" sz="5400"/>
          </a:p>
        </p:txBody>
      </p:sp>
      <p:sp>
        <p:nvSpPr>
          <p:cNvPr id="2054" name="CasellaDiTesto 12"/>
          <p:cNvSpPr txBox="1">
            <a:spLocks noChangeArrowheads="1"/>
          </p:cNvSpPr>
          <p:nvPr/>
        </p:nvSpPr>
        <p:spPr bwMode="auto">
          <a:xfrm>
            <a:off x="3092450" y="2790825"/>
            <a:ext cx="5537200" cy="84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GB" altLang="it-IT" sz="2400" b="1">
                <a:solidFill>
                  <a:srgbClr val="990000"/>
                </a:solidFill>
                <a:latin typeface="Optima" pitchFamily="34" charset="0"/>
              </a:rPr>
              <a:t>SOTTOTITOLO SLIDE </a:t>
            </a:r>
          </a:p>
          <a:p>
            <a:pPr eaLnBrk="1" hangingPunct="1"/>
            <a:r>
              <a:rPr lang="en-GB" altLang="it-IT" sz="2400" b="1">
                <a:solidFill>
                  <a:srgbClr val="990000"/>
                </a:solidFill>
                <a:latin typeface="Optima" pitchFamily="34" charset="0"/>
              </a:rPr>
              <a:t>LOREM IPSUM OPTIMA 24 RED BOLD</a:t>
            </a:r>
            <a:endParaRPr lang="it-IT" altLang="en-US"/>
          </a:p>
        </p:txBody>
      </p:sp>
      <p:sp>
        <p:nvSpPr>
          <p:cNvPr id="2055" name="CasellaDiTesto 13"/>
          <p:cNvSpPr txBox="1">
            <a:spLocks noChangeArrowheads="1"/>
          </p:cNvSpPr>
          <p:nvPr/>
        </p:nvSpPr>
        <p:spPr bwMode="auto">
          <a:xfrm>
            <a:off x="3092450" y="3741738"/>
            <a:ext cx="80978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800000"/>
              </a:buClr>
              <a:buSzPct val="80000"/>
              <a:buFont typeface="Wingdings 3" panose="05040102010807070707" pitchFamily="18" charset="2"/>
              <a:buChar char="u"/>
            </a:pPr>
            <a:r>
              <a:rPr lang="en-GB" altLang="it-IT" sz="1700">
                <a:latin typeface="Optima" pitchFamily="34" charset="0"/>
              </a:rPr>
              <a:t> DIPARTIMENTO  SCIENZE MEDICHE, CHIRURGICHE E NEUROSCIENZE</a:t>
            </a:r>
          </a:p>
          <a:p>
            <a:pPr eaLnBrk="1" hangingPunct="1">
              <a:lnSpc>
                <a:spcPct val="80000"/>
              </a:lnSpc>
            </a:pPr>
            <a:endParaRPr lang="en-GB" altLang="it-IT" sz="1400"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800000"/>
              </a:buClr>
              <a:buSzPct val="80000"/>
              <a:buFont typeface="Wingdings 3" panose="05040102010807070707" pitchFamily="18" charset="2"/>
              <a:buNone/>
            </a:pPr>
            <a:r>
              <a:rPr lang="en-GB" altLang="it-IT" sz="1400">
                <a:latin typeface="Optima" pitchFamily="34" charset="0"/>
              </a:rPr>
              <a:t>     XXXX YYYY AUTORE</a:t>
            </a:r>
          </a:p>
          <a:p>
            <a:pPr eaLnBrk="1" hangingPunct="1">
              <a:lnSpc>
                <a:spcPct val="80000"/>
              </a:lnSpc>
              <a:buClr>
                <a:srgbClr val="800000"/>
              </a:buClr>
              <a:buSzPct val="80000"/>
              <a:buFont typeface="Wingdings 3" panose="05040102010807070707" pitchFamily="18" charset="2"/>
              <a:buNone/>
            </a:pPr>
            <a:r>
              <a:rPr lang="en-GB" altLang="it-IT" sz="1400">
                <a:latin typeface="Optima" pitchFamily="34" charset="0"/>
              </a:rPr>
              <a:t>     SIENA 18/03/2021</a:t>
            </a:r>
            <a:endParaRPr lang="it-IT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412750"/>
            <a:ext cx="112712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nettore 1 6"/>
          <p:cNvCxnSpPr/>
          <p:nvPr/>
        </p:nvCxnSpPr>
        <p:spPr>
          <a:xfrm>
            <a:off x="1730375" y="331788"/>
            <a:ext cx="9525" cy="13239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CasellaDiTesto 5"/>
          <p:cNvSpPr txBox="1">
            <a:spLocks noChangeArrowheads="1"/>
          </p:cNvSpPr>
          <p:nvPr/>
        </p:nvSpPr>
        <p:spPr bwMode="auto">
          <a:xfrm>
            <a:off x="2019300" y="542925"/>
            <a:ext cx="69342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it-IT" altLang="it-IT" sz="2800">
                <a:latin typeface="Optima" pitchFamily="34" charset="0"/>
              </a:rPr>
              <a:t>TITOLO SLIDE </a:t>
            </a:r>
          </a:p>
          <a:p>
            <a:pPr eaLnBrk="1" hangingPunct="1"/>
            <a:r>
              <a:rPr lang="it-IT" altLang="it-IT" sz="2800">
                <a:latin typeface="Optima" pitchFamily="34" charset="0"/>
              </a:rPr>
              <a:t>OPTIMA 28 CAPS NON BOLD</a:t>
            </a:r>
            <a:endParaRPr lang="it-IT" altLang="en-US" sz="2800"/>
          </a:p>
        </p:txBody>
      </p:sp>
      <p:sp>
        <p:nvSpPr>
          <p:cNvPr id="3077" name="CasellaDiTesto 7"/>
          <p:cNvSpPr txBox="1">
            <a:spLocks noChangeArrowheads="1"/>
          </p:cNvSpPr>
          <p:nvPr/>
        </p:nvSpPr>
        <p:spPr bwMode="auto">
          <a:xfrm>
            <a:off x="1739900" y="1971675"/>
            <a:ext cx="9394825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it-IT" altLang="it-IT" sz="2800" b="1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Testo principale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it-IT" altLang="it-IT" sz="2800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font Optima 28 non bold </a:t>
            </a:r>
            <a:r>
              <a:rPr lang="it-IT" altLang="it-IT" sz="2800" b="1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oppure bold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endParaRPr lang="it-IT" altLang="it-IT" sz="2800" b="1">
              <a:solidFill>
                <a:srgbClr val="000000"/>
              </a:solidFill>
              <a:latin typeface="Optima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A50021"/>
              </a:buClr>
              <a:buSzPct val="70000"/>
              <a:buFont typeface="Wingdings 3" panose="05040102010807070707" pitchFamily="18" charset="2"/>
              <a:buChar char=""/>
            </a:pPr>
            <a:r>
              <a:rPr lang="it-IT" altLang="it-IT" sz="2800">
                <a:latin typeface="Optima" pitchFamily="34" charset="0"/>
              </a:rPr>
              <a:t>sottolivello 2 di </a:t>
            </a:r>
            <a:r>
              <a:rPr lang="it-IT" altLang="it-IT" sz="2800" b="1">
                <a:latin typeface="Optima" pitchFamily="34" charset="0"/>
              </a:rPr>
              <a:t>testo</a:t>
            </a:r>
            <a:r>
              <a:rPr lang="it-IT" altLang="it-IT" sz="2800">
                <a:latin typeface="Optima" pitchFamily="34" charset="0"/>
              </a:rPr>
              <a:t> o </a:t>
            </a:r>
            <a:r>
              <a:rPr lang="it-IT" altLang="it-IT" sz="2800" b="1">
                <a:latin typeface="Optima" pitchFamily="34" charset="0"/>
              </a:rPr>
              <a:t>elenco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it-IT" altLang="it-IT" sz="2800" b="1">
                <a:latin typeface="Optima" pitchFamily="34" charset="0"/>
              </a:rPr>
              <a:t>	font Optima 24 </a:t>
            </a:r>
            <a:r>
              <a:rPr lang="it-IT" altLang="it-IT" sz="2800">
                <a:latin typeface="Optima" pitchFamily="34" charset="0"/>
              </a:rPr>
              <a:t>non bold </a:t>
            </a:r>
            <a:r>
              <a:rPr lang="it-IT" altLang="it-IT" sz="2800" b="1">
                <a:latin typeface="Optima" pitchFamily="34" charset="0"/>
              </a:rPr>
              <a:t>oppure bold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70000"/>
              <a:buFont typeface="Wingdings 3" panose="05040102010807070707" pitchFamily="18" charset="2"/>
              <a:buChar char=""/>
            </a:pPr>
            <a:endParaRPr lang="it-IT" altLang="it-IT" sz="2800" b="1">
              <a:latin typeface="Optima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Font typeface="Wingdings 3" panose="05040102010807070707" pitchFamily="18" charset="2"/>
              <a:buChar char=""/>
            </a:pPr>
            <a:r>
              <a:rPr lang="it-IT" altLang="it-IT" sz="2000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sottolivello 3 di </a:t>
            </a:r>
            <a:r>
              <a:rPr lang="it-IT" altLang="it-IT" sz="2000" b="1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testo</a:t>
            </a:r>
            <a:r>
              <a:rPr lang="it-IT" altLang="it-IT" sz="2000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 o </a:t>
            </a:r>
            <a:r>
              <a:rPr lang="it-IT" altLang="it-IT" sz="2000" b="1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elenco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Font typeface="Wingdings 3" panose="05040102010807070707" pitchFamily="18" charset="2"/>
              <a:buChar char=""/>
            </a:pPr>
            <a:r>
              <a:rPr lang="it-IT" altLang="it-IT" sz="2000" b="1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font Optima 20 </a:t>
            </a:r>
            <a:r>
              <a:rPr lang="it-IT" altLang="it-IT" sz="2000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non bold oppure</a:t>
            </a:r>
            <a:r>
              <a:rPr lang="it-IT" altLang="it-IT" sz="2000" b="1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 bold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endParaRPr lang="it-IT" altLang="it-IT" sz="2800" b="1">
              <a:solidFill>
                <a:srgbClr val="000000"/>
              </a:solidFill>
              <a:latin typeface="Optima" pitchFamily="34" charset="0"/>
              <a:cs typeface="Arial" panose="020B0604020202020204" pitchFamily="34" charset="0"/>
            </a:endParaRPr>
          </a:p>
        </p:txBody>
      </p:sp>
      <p:sp>
        <p:nvSpPr>
          <p:cNvPr id="3078" name="CasellaDiTesto 9"/>
          <p:cNvSpPr txBox="1">
            <a:spLocks noChangeArrowheads="1"/>
          </p:cNvSpPr>
          <p:nvPr/>
        </p:nvSpPr>
        <p:spPr bwMode="auto">
          <a:xfrm>
            <a:off x="190500" y="5848350"/>
            <a:ext cx="118776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 sz="2400" b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it-IT" altLang="it-IT" sz="3200" b="1">
                <a:solidFill>
                  <a:srgbClr val="990000"/>
                </a:solidFill>
                <a:latin typeface="Optima" pitchFamily="34" charset="0"/>
                <a:cs typeface="Arial" panose="020B0604020202020204" pitchFamily="34" charset="0"/>
              </a:rPr>
              <a:t>{</a:t>
            </a:r>
            <a:r>
              <a:rPr lang="it-IT" altLang="it-IT" sz="2400" b="1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 </a:t>
            </a:r>
            <a:r>
              <a:rPr lang="en-GB" altLang="it-IT" sz="2400" b="1">
                <a:solidFill>
                  <a:srgbClr val="990000"/>
                </a:solidFill>
                <a:latin typeface="Optima" pitchFamily="34" charset="0"/>
                <a:cs typeface="Arial" panose="020B0604020202020204" pitchFamily="34" charset="0"/>
              </a:rPr>
              <a:t>key phrase key phrase optima red 24 bold </a:t>
            </a:r>
            <a:r>
              <a:rPr lang="it-IT" altLang="it-IT" sz="3200" b="1">
                <a:solidFill>
                  <a:srgbClr val="990000"/>
                </a:solidFill>
                <a:latin typeface="Optima" pitchFamily="34" charset="0"/>
                <a:cs typeface="Arial" panose="020B0604020202020204" pitchFamily="34" charset="0"/>
              </a:rPr>
              <a:t>}</a:t>
            </a:r>
            <a:r>
              <a:rPr lang="it-IT" altLang="it-IT" sz="3200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 </a:t>
            </a:r>
            <a:endParaRPr lang="en-GB" altLang="it-IT" sz="3200">
              <a:solidFill>
                <a:srgbClr val="000000"/>
              </a:solidFill>
              <a:latin typeface="Optima" pitchFamily="34" charset="0"/>
              <a:cs typeface="Arial" panose="020B0604020202020204" pitchFamily="34" charset="0"/>
            </a:endParaRPr>
          </a:p>
          <a:p>
            <a:pPr eaLnBrk="1" hangingPunct="1"/>
            <a:endParaRPr lang="it-IT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412750"/>
            <a:ext cx="112712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nettore 1 6"/>
          <p:cNvCxnSpPr/>
          <p:nvPr/>
        </p:nvCxnSpPr>
        <p:spPr>
          <a:xfrm>
            <a:off x="1730375" y="331788"/>
            <a:ext cx="9525" cy="13239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0" name="CasellaDiTesto 5"/>
          <p:cNvSpPr txBox="1">
            <a:spLocks noChangeArrowheads="1"/>
          </p:cNvSpPr>
          <p:nvPr/>
        </p:nvSpPr>
        <p:spPr bwMode="auto">
          <a:xfrm>
            <a:off x="2019300" y="542925"/>
            <a:ext cx="69342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it-IT" altLang="it-IT" sz="2800">
                <a:latin typeface="Optima" pitchFamily="34" charset="0"/>
              </a:rPr>
              <a:t>TITOLO SLIDE </a:t>
            </a:r>
          </a:p>
          <a:p>
            <a:pPr eaLnBrk="1" hangingPunct="1"/>
            <a:r>
              <a:rPr lang="it-IT" altLang="it-IT" sz="2800">
                <a:latin typeface="Optima" pitchFamily="34" charset="0"/>
              </a:rPr>
              <a:t>OPTIMA 28 CAPS NON BOLD</a:t>
            </a:r>
            <a:endParaRPr lang="it-IT" altLang="en-US" sz="2800"/>
          </a:p>
        </p:txBody>
      </p:sp>
      <p:pic>
        <p:nvPicPr>
          <p:cNvPr id="4101" name="Picture 12" descr="File:Grafico variazioni regionali GH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8"/>
          <a:stretch>
            <a:fillRect/>
          </a:stretch>
        </p:blipFill>
        <p:spPr bwMode="auto">
          <a:xfrm>
            <a:off x="1730375" y="1947863"/>
            <a:ext cx="8928100" cy="363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1576388" y="5857875"/>
            <a:ext cx="8280400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0000"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ctr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defRPr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ctr">
              <a:spcBef>
                <a:spcPct val="20000"/>
              </a:spcBef>
              <a:buClr>
                <a:schemeClr val="accent2"/>
              </a:buClr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ctr">
              <a:spcBef>
                <a:spcPct val="20000"/>
              </a:spcBef>
              <a:buClr>
                <a:schemeClr val="tx1"/>
              </a:buClr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ctr">
              <a:spcBef>
                <a:spcPct val="20000"/>
              </a:spcBef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defRPr/>
            </a:pPr>
            <a:r>
              <a:rPr lang="it-IT" altLang="it-IT" sz="2000" b="1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Didascalia o lettura </a:t>
            </a:r>
            <a:r>
              <a:rPr lang="it-IT" altLang="it-IT" sz="2000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grafico</a:t>
            </a:r>
            <a:r>
              <a:rPr lang="it-IT" altLang="it-IT" sz="2000" b="1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 </a:t>
            </a:r>
            <a:r>
              <a:rPr lang="it-IT" altLang="it-IT" sz="2000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o tabella</a:t>
            </a:r>
            <a:r>
              <a:rPr lang="it-IT" altLang="it-IT" sz="2000" b="1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 </a:t>
            </a:r>
          </a:p>
          <a:p>
            <a:pPr eaLnBrk="1" hangingPunct="1">
              <a:buClr>
                <a:srgbClr val="000000"/>
              </a:buClr>
              <a:defRPr/>
            </a:pPr>
            <a:r>
              <a:rPr lang="it-IT" altLang="it-IT" sz="2000" b="1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font Optima 20 </a:t>
            </a:r>
            <a:r>
              <a:rPr lang="it-IT" altLang="it-IT" sz="2000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non </a:t>
            </a:r>
            <a:r>
              <a:rPr lang="it-IT" altLang="it-IT" sz="2000" kern="0" dirty="0" err="1" smtClean="0">
                <a:solidFill>
                  <a:srgbClr val="000000"/>
                </a:solidFill>
                <a:latin typeface="Optima" panose="020B0502050508020304" pitchFamily="34" charset="0"/>
              </a:rPr>
              <a:t>bold</a:t>
            </a:r>
            <a:r>
              <a:rPr lang="it-IT" altLang="it-IT" sz="2000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 </a:t>
            </a:r>
            <a:r>
              <a:rPr lang="it-IT" altLang="it-IT" sz="2000" b="1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oppure </a:t>
            </a:r>
            <a:r>
              <a:rPr lang="it-IT" altLang="it-IT" sz="2000" b="1" kern="0" dirty="0" err="1" smtClean="0">
                <a:solidFill>
                  <a:srgbClr val="000000"/>
                </a:solidFill>
                <a:latin typeface="Optima" panose="020B0502050508020304" pitchFamily="34" charset="0"/>
              </a:rPr>
              <a:t>bold</a:t>
            </a:r>
            <a:r>
              <a:rPr lang="it-IT" altLang="it-IT" sz="2000" kern="0" dirty="0" smtClean="0">
                <a:solidFill>
                  <a:srgbClr val="000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412750"/>
            <a:ext cx="112712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nettore 1 6"/>
          <p:cNvCxnSpPr/>
          <p:nvPr/>
        </p:nvCxnSpPr>
        <p:spPr>
          <a:xfrm>
            <a:off x="1730375" y="331788"/>
            <a:ext cx="9525" cy="13239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4" name="CasellaDiTesto 5"/>
          <p:cNvSpPr txBox="1">
            <a:spLocks noChangeArrowheads="1"/>
          </p:cNvSpPr>
          <p:nvPr/>
        </p:nvSpPr>
        <p:spPr bwMode="auto">
          <a:xfrm>
            <a:off x="2019300" y="542925"/>
            <a:ext cx="69342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it-IT" altLang="it-IT" sz="2800">
                <a:latin typeface="Optima" pitchFamily="34" charset="0"/>
              </a:rPr>
              <a:t>TITOLO SLIDE </a:t>
            </a:r>
          </a:p>
          <a:p>
            <a:pPr eaLnBrk="1" hangingPunct="1"/>
            <a:r>
              <a:rPr lang="it-IT" altLang="it-IT" sz="2800">
                <a:latin typeface="Optima" pitchFamily="34" charset="0"/>
              </a:rPr>
              <a:t>OPTIMA 28 CAPS NON BOLD</a:t>
            </a:r>
            <a:endParaRPr lang="it-IT" altLang="en-US" sz="2800"/>
          </a:p>
        </p:txBody>
      </p:sp>
      <p:pic>
        <p:nvPicPr>
          <p:cNvPr id="5125" name="Picture 7" descr="http://www.ordinemedicilatina.it/sistor_mx/images/telefonia-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75" y="1868488"/>
            <a:ext cx="7223125" cy="453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6" name="Rectangle 8"/>
          <p:cNvSpPr>
            <a:spLocks noChangeArrowheads="1"/>
          </p:cNvSpPr>
          <p:nvPr/>
        </p:nvSpPr>
        <p:spPr bwMode="auto">
          <a:xfrm>
            <a:off x="9564688" y="1903413"/>
            <a:ext cx="2065337" cy="4033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Font typeface="Wingdings 3" panose="05040102010807070707" pitchFamily="18" charset="2"/>
              <a:buChar char="u"/>
            </a:pPr>
            <a:r>
              <a:rPr lang="it-IT" altLang="it-IT" sz="1800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punto elenco </a:t>
            </a:r>
            <a:r>
              <a:rPr lang="it-IT" altLang="it-IT" sz="1800" b="1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font Optima 18 </a:t>
            </a:r>
            <a:r>
              <a:rPr lang="it-IT" altLang="it-IT" sz="1800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non bold oppure</a:t>
            </a:r>
            <a:r>
              <a:rPr lang="it-IT" altLang="it-IT" sz="1800" b="1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 bold</a:t>
            </a:r>
            <a:endParaRPr lang="it-IT" altLang="it-IT" sz="2000">
              <a:solidFill>
                <a:srgbClr val="000000"/>
              </a:solidFill>
              <a:latin typeface="Optima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Font typeface="Wingdings 3" panose="05040102010807070707" pitchFamily="18" charset="2"/>
              <a:buChar char="u"/>
            </a:pPr>
            <a:endParaRPr lang="it-IT" altLang="it-IT" sz="2000">
              <a:solidFill>
                <a:srgbClr val="000000"/>
              </a:solidFill>
              <a:latin typeface="Optima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Font typeface="Wingdings 3" panose="05040102010807070707" pitchFamily="18" charset="2"/>
              <a:buChar char="u"/>
            </a:pPr>
            <a:r>
              <a:rPr lang="it-IT" altLang="it-IT" sz="1800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punto elenco </a:t>
            </a:r>
            <a:r>
              <a:rPr lang="it-IT" altLang="it-IT" sz="1800" b="1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font Optima 18 </a:t>
            </a:r>
            <a:r>
              <a:rPr lang="it-IT" altLang="it-IT" sz="1800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non bold oppure</a:t>
            </a:r>
            <a:r>
              <a:rPr lang="it-IT" altLang="it-IT" sz="1800" b="1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 bold</a:t>
            </a:r>
          </a:p>
        </p:txBody>
      </p:sp>
      <p:sp>
        <p:nvSpPr>
          <p:cNvPr id="5127" name="CasellaDiTesto 9"/>
          <p:cNvSpPr txBox="1">
            <a:spLocks noChangeArrowheads="1"/>
          </p:cNvSpPr>
          <p:nvPr/>
        </p:nvSpPr>
        <p:spPr bwMode="auto">
          <a:xfrm>
            <a:off x="2019300" y="542925"/>
            <a:ext cx="69342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it-IT" altLang="it-IT" sz="2800">
                <a:latin typeface="Optima" pitchFamily="34" charset="0"/>
              </a:rPr>
              <a:t>TITOLO SLIDE </a:t>
            </a:r>
          </a:p>
          <a:p>
            <a:pPr eaLnBrk="1" hangingPunct="1"/>
            <a:r>
              <a:rPr lang="it-IT" altLang="it-IT" sz="2800">
                <a:latin typeface="Optima" pitchFamily="34" charset="0"/>
              </a:rPr>
              <a:t>OPTIMA 28 CAPS NON BOLD</a:t>
            </a:r>
            <a:endParaRPr lang="it-IT" alt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412750"/>
            <a:ext cx="112712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nettore 1 6"/>
          <p:cNvCxnSpPr/>
          <p:nvPr/>
        </p:nvCxnSpPr>
        <p:spPr>
          <a:xfrm>
            <a:off x="1730375" y="331788"/>
            <a:ext cx="9525" cy="13239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8" name="CasellaDiTesto 5"/>
          <p:cNvSpPr txBox="1">
            <a:spLocks noChangeArrowheads="1"/>
          </p:cNvSpPr>
          <p:nvPr/>
        </p:nvSpPr>
        <p:spPr bwMode="auto">
          <a:xfrm>
            <a:off x="2019300" y="542925"/>
            <a:ext cx="69342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it-IT" altLang="it-IT" sz="2800">
                <a:latin typeface="Optima" pitchFamily="34" charset="0"/>
              </a:rPr>
              <a:t>TITOLO SLIDE </a:t>
            </a:r>
          </a:p>
          <a:p>
            <a:pPr eaLnBrk="1" hangingPunct="1"/>
            <a:r>
              <a:rPr lang="it-IT" altLang="it-IT" sz="2800">
                <a:latin typeface="Optima" pitchFamily="34" charset="0"/>
              </a:rPr>
              <a:t>OPTIMA 28 CAPS NON BOLD</a:t>
            </a:r>
            <a:endParaRPr lang="it-IT" altLang="en-US" sz="2800"/>
          </a:p>
        </p:txBody>
      </p:sp>
      <p:pic>
        <p:nvPicPr>
          <p:cNvPr id="6149" name="Picture 12" descr="idee_sost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3" t="11694" r="143" b="18251"/>
          <a:stretch>
            <a:fillRect/>
          </a:stretch>
        </p:blipFill>
        <p:spPr bwMode="auto">
          <a:xfrm>
            <a:off x="1952625" y="1893888"/>
            <a:ext cx="7451725" cy="388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150" name="Text Box 14"/>
          <p:cNvSpPr txBox="1">
            <a:spLocks noChangeArrowheads="1"/>
          </p:cNvSpPr>
          <p:nvPr/>
        </p:nvSpPr>
        <p:spPr bwMode="auto">
          <a:xfrm>
            <a:off x="0" y="5969000"/>
            <a:ext cx="1219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it-IT" altLang="it-IT" sz="3200" b="1">
                <a:solidFill>
                  <a:srgbClr val="990000"/>
                </a:solidFill>
                <a:latin typeface="Optima" pitchFamily="34" charset="0"/>
                <a:cs typeface="Arial" panose="020B0604020202020204" pitchFamily="34" charset="0"/>
              </a:rPr>
              <a:t>{ </a:t>
            </a:r>
            <a:r>
              <a:rPr lang="en-GB" altLang="it-IT" sz="2400" b="1">
                <a:solidFill>
                  <a:srgbClr val="990000"/>
                </a:solidFill>
                <a:latin typeface="Optima" pitchFamily="34" charset="0"/>
                <a:cs typeface="Arial" panose="020B0604020202020204" pitchFamily="34" charset="0"/>
              </a:rPr>
              <a:t>key phrase</a:t>
            </a:r>
            <a:r>
              <a:rPr lang="en-GB" altLang="it-IT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it-IT" sz="2400" b="1">
                <a:solidFill>
                  <a:srgbClr val="990000"/>
                </a:solidFill>
                <a:latin typeface="Optima" pitchFamily="34" charset="0"/>
                <a:cs typeface="Arial" panose="020B0604020202020204" pitchFamily="34" charset="0"/>
              </a:rPr>
              <a:t>key phrase key phrase optima red 24 bold </a:t>
            </a:r>
            <a:r>
              <a:rPr lang="it-IT" altLang="it-IT" sz="3200" b="1">
                <a:solidFill>
                  <a:srgbClr val="990000"/>
                </a:solidFill>
                <a:latin typeface="Optima" pitchFamily="34" charset="0"/>
                <a:cs typeface="Arial" panose="020B0604020202020204" pitchFamily="34" charset="0"/>
              </a:rPr>
              <a:t>}</a:t>
            </a:r>
            <a:r>
              <a:rPr lang="it-IT" altLang="it-IT" sz="3200">
                <a:solidFill>
                  <a:srgbClr val="000000"/>
                </a:solidFill>
                <a:latin typeface="Optima" pitchFamily="34" charset="0"/>
                <a:cs typeface="Arial" panose="020B0604020202020204" pitchFamily="34" charset="0"/>
              </a:rPr>
              <a:t> </a:t>
            </a:r>
            <a:endParaRPr lang="en-GB" altLang="it-IT" sz="3200">
              <a:solidFill>
                <a:srgbClr val="000000"/>
              </a:solidFill>
              <a:latin typeface="Optima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412750"/>
            <a:ext cx="112712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nettore 1 6"/>
          <p:cNvCxnSpPr/>
          <p:nvPr/>
        </p:nvCxnSpPr>
        <p:spPr>
          <a:xfrm>
            <a:off x="1730375" y="331788"/>
            <a:ext cx="9525" cy="13239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2" name="CasellaDiTesto 5"/>
          <p:cNvSpPr txBox="1">
            <a:spLocks noChangeArrowheads="1"/>
          </p:cNvSpPr>
          <p:nvPr/>
        </p:nvSpPr>
        <p:spPr bwMode="auto">
          <a:xfrm>
            <a:off x="2019300" y="542925"/>
            <a:ext cx="69342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it-IT" altLang="it-IT" sz="2800">
                <a:latin typeface="Optima" pitchFamily="34" charset="0"/>
              </a:rPr>
              <a:t>TITOLO SLIDE </a:t>
            </a:r>
          </a:p>
          <a:p>
            <a:pPr eaLnBrk="1" hangingPunct="1"/>
            <a:r>
              <a:rPr lang="it-IT" altLang="it-IT" sz="2800">
                <a:latin typeface="Optima" pitchFamily="34" charset="0"/>
              </a:rPr>
              <a:t>OPTIMA 28 CAPS NON BOLD</a:t>
            </a:r>
            <a:endParaRPr lang="it-IT" altLang="en-US" sz="2800"/>
          </a:p>
        </p:txBody>
      </p:sp>
      <p:pic>
        <p:nvPicPr>
          <p:cNvPr id="7173" name="Picture 10" descr="Muse danzano con Apollo Peruzzi Baldassar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0" b="11121"/>
          <a:stretch>
            <a:fillRect/>
          </a:stretch>
        </p:blipFill>
        <p:spPr bwMode="auto">
          <a:xfrm>
            <a:off x="2000250" y="2133600"/>
            <a:ext cx="7740650" cy="33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2019300" y="5614988"/>
            <a:ext cx="7740650" cy="804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0000"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ctr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defRPr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ctr">
              <a:spcBef>
                <a:spcPct val="20000"/>
              </a:spcBef>
              <a:buClr>
                <a:schemeClr val="accent2"/>
              </a:buClr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ctr">
              <a:spcBef>
                <a:spcPct val="20000"/>
              </a:spcBef>
              <a:buClr>
                <a:schemeClr val="tx1"/>
              </a:buClr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ctr">
              <a:spcBef>
                <a:spcPct val="20000"/>
              </a:spcBef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defRPr/>
            </a:pPr>
            <a:r>
              <a:rPr lang="it-IT" altLang="it-IT" sz="2000" b="1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Didascalia o lettura </a:t>
            </a:r>
            <a:r>
              <a:rPr lang="it-IT" altLang="it-IT" sz="2000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immagine</a:t>
            </a:r>
            <a:r>
              <a:rPr lang="it-IT" altLang="it-IT" sz="2000" b="1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 </a:t>
            </a:r>
          </a:p>
          <a:p>
            <a:pPr eaLnBrk="1" hangingPunct="1">
              <a:buClr>
                <a:srgbClr val="000000"/>
              </a:buClr>
              <a:defRPr/>
            </a:pPr>
            <a:r>
              <a:rPr lang="it-IT" altLang="it-IT" sz="2000" b="1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font Optima 18 </a:t>
            </a:r>
            <a:r>
              <a:rPr lang="it-IT" altLang="it-IT" sz="2000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non </a:t>
            </a:r>
            <a:r>
              <a:rPr lang="it-IT" altLang="it-IT" sz="2000" kern="0" dirty="0" err="1" smtClean="0">
                <a:solidFill>
                  <a:srgbClr val="000000"/>
                </a:solidFill>
                <a:latin typeface="Optima" panose="020B0502050508020304" pitchFamily="34" charset="0"/>
              </a:rPr>
              <a:t>bold</a:t>
            </a:r>
            <a:r>
              <a:rPr lang="it-IT" altLang="it-IT" sz="2000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 </a:t>
            </a:r>
            <a:r>
              <a:rPr lang="it-IT" altLang="it-IT" sz="2000" b="1" kern="0" dirty="0" smtClean="0">
                <a:solidFill>
                  <a:srgbClr val="000000"/>
                </a:solidFill>
                <a:latin typeface="Optima" panose="020B0502050508020304" pitchFamily="34" charset="0"/>
              </a:rPr>
              <a:t>oppure </a:t>
            </a:r>
            <a:r>
              <a:rPr lang="it-IT" altLang="it-IT" sz="2000" b="1" kern="0" dirty="0" err="1" smtClean="0">
                <a:solidFill>
                  <a:srgbClr val="000000"/>
                </a:solidFill>
                <a:latin typeface="Optima" panose="020B0502050508020304" pitchFamily="34" charset="0"/>
              </a:rPr>
              <a:t>bold</a:t>
            </a:r>
            <a:r>
              <a:rPr lang="it-IT" altLang="it-IT" sz="2000" kern="0" dirty="0" smtClean="0">
                <a:solidFill>
                  <a:srgbClr val="000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412750"/>
            <a:ext cx="112712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nettore 1 6"/>
          <p:cNvCxnSpPr/>
          <p:nvPr/>
        </p:nvCxnSpPr>
        <p:spPr>
          <a:xfrm>
            <a:off x="1730375" y="331788"/>
            <a:ext cx="9525" cy="13239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6" name="CasellaDiTesto 5"/>
          <p:cNvSpPr txBox="1">
            <a:spLocks noChangeArrowheads="1"/>
          </p:cNvSpPr>
          <p:nvPr/>
        </p:nvSpPr>
        <p:spPr bwMode="auto">
          <a:xfrm>
            <a:off x="2019300" y="542925"/>
            <a:ext cx="6934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it-IT" altLang="it-IT" sz="2400">
                <a:latin typeface="Optima" pitchFamily="34" charset="0"/>
              </a:rPr>
              <a:t>BIBLIOGRAFIA / REFERENCES</a:t>
            </a:r>
          </a:p>
          <a:p>
            <a:pPr eaLnBrk="1" hangingPunct="1"/>
            <a:r>
              <a:rPr lang="it-IT" altLang="it-IT" sz="2400">
                <a:latin typeface="Optima" pitchFamily="34" charset="0"/>
              </a:rPr>
              <a:t>OPTIMA 24 CAPS NON BOLD</a:t>
            </a:r>
            <a:endParaRPr lang="it-IT" altLang="en-US" sz="2400"/>
          </a:p>
        </p:txBody>
      </p:sp>
      <p:sp>
        <p:nvSpPr>
          <p:cNvPr id="8197" name="Rectangle 3"/>
          <p:cNvSpPr txBox="1">
            <a:spLocks noChangeArrowheads="1"/>
          </p:cNvSpPr>
          <p:nvPr/>
        </p:nvSpPr>
        <p:spPr bwMode="auto">
          <a:xfrm>
            <a:off x="895350" y="2116138"/>
            <a:ext cx="8234363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Andergassen, M, Behringer, R, Finlay, J, Gorra, A, and Moore, D. (2009) ‘</a:t>
            </a:r>
            <a:r>
              <a:rPr lang="en-GB" altLang="it-IT" sz="1000" i="1">
                <a:solidFill>
                  <a:schemeClr val="tx2"/>
                </a:solidFill>
                <a:latin typeface="Optima" pitchFamily="34" charset="0"/>
              </a:rPr>
              <a:t>Weblogs in Higher Education – why do Students (not) Blog?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’  Electronic Journal of e-Learning [online] Volume 7 (3), (pp203 -215), Available from </a:t>
            </a:r>
            <a:r>
              <a:rPr lang="en-GB" altLang="it-IT" sz="1000">
                <a:solidFill>
                  <a:srgbClr val="800000"/>
                </a:solidFill>
                <a:latin typeface="Optima" pitchFamily="34" charset="0"/>
                <a:hlinkClick r:id="rId3"/>
              </a:rPr>
              <a:t>www.ejel.org</a:t>
            </a:r>
            <a:endParaRPr lang="en-GB" altLang="it-IT" sz="1000">
              <a:solidFill>
                <a:srgbClr val="800000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endParaRPr lang="en-GB" altLang="it-IT" sz="1000">
              <a:solidFill>
                <a:srgbClr val="800000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Baird, D &amp; Fisher, M (2006) ‘</a:t>
            </a:r>
            <a:r>
              <a:rPr lang="en-GB" altLang="it-IT" sz="1000" i="1">
                <a:solidFill>
                  <a:schemeClr val="tx2"/>
                </a:solidFill>
                <a:latin typeface="Optima" pitchFamily="34" charset="0"/>
              </a:rPr>
              <a:t>Neomillenial User Experience design strategies: Utilizing social networking media to support ‘always on’ learning styles’ 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 Journal of Educational Technology Systems, [online] Vol.34 (1), Accessed: 26/04/10 pp5 – 32.  Available from: 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  <a:hlinkClick r:id="rId4"/>
              </a:rPr>
              <a:t>http://0-search.ebscohost.com.emu.londonmet.ac.uk/login.aspx?direct=true&amp;db=ehh&amp;AN=19651273&amp;site=ehost-live</a:t>
            </a:r>
            <a:endParaRPr lang="en-GB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endParaRPr lang="en-US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r>
              <a:rPr lang="en-US" altLang="it-IT" sz="1000">
                <a:solidFill>
                  <a:schemeClr val="tx2"/>
                </a:solidFill>
                <a:latin typeface="Optima" pitchFamily="34" charset="0"/>
              </a:rPr>
              <a:t>Beetham, H, Littlejohn,A &amp; McGill, L (2010) </a:t>
            </a:r>
            <a:r>
              <a:rPr lang="en-US" altLang="it-IT" sz="1000" i="1">
                <a:solidFill>
                  <a:schemeClr val="tx2"/>
                </a:solidFill>
                <a:latin typeface="Optima" pitchFamily="34" charset="0"/>
              </a:rPr>
              <a:t>‘Beyond competence: Digital literacies as knowledge practices and implications for learner development’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 A paper for the ESRC Seminar Series ‘Literacies for the Digital University’ (LiDU), [online] Accessed: 15/03/10, Available from: 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  <a:hlinkClick r:id="rId5"/>
              </a:rPr>
              <a:t>http://kn.open.ac.uk/LiDU/Seminar2/Beetham_et_al_paper.doc </a:t>
            </a:r>
            <a:endParaRPr lang="en-GB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endParaRPr lang="en-US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r>
              <a:rPr lang="en-US" altLang="it-IT" sz="1000">
                <a:solidFill>
                  <a:schemeClr val="tx2"/>
                </a:solidFill>
                <a:latin typeface="Optima" pitchFamily="34" charset="0"/>
              </a:rPr>
              <a:t>Conole, G  (2008). ‘</a:t>
            </a:r>
            <a:r>
              <a:rPr lang="en-GB" altLang="it-IT" sz="1000" i="1">
                <a:solidFill>
                  <a:schemeClr val="tx2"/>
                </a:solidFill>
                <a:latin typeface="Optima" pitchFamily="34" charset="0"/>
              </a:rPr>
              <a:t>Listening</a:t>
            </a:r>
            <a:r>
              <a:rPr lang="en-US" altLang="it-IT" sz="1000">
                <a:solidFill>
                  <a:schemeClr val="tx2"/>
                </a:solidFill>
                <a:latin typeface="Optima" pitchFamily="34" charset="0"/>
              </a:rPr>
              <a:t> </a:t>
            </a:r>
            <a:r>
              <a:rPr lang="en-GB" altLang="it-IT" sz="1000" i="1">
                <a:solidFill>
                  <a:schemeClr val="tx2"/>
                </a:solidFill>
                <a:latin typeface="Optima" pitchFamily="34" charset="0"/>
              </a:rPr>
              <a:t>to the learner voice: The ever changing landscape of technology use for language students’.</a:t>
            </a:r>
            <a:r>
              <a:rPr lang="en-US" altLang="it-IT" sz="1000">
                <a:solidFill>
                  <a:schemeClr val="tx2"/>
                </a:solidFill>
                <a:latin typeface="Optima" pitchFamily="34" charset="0"/>
              </a:rPr>
              <a:t> ReCALL, [online] Vol.20 (2), Accessed: 13/03/10 pp. 124–140. Available from: </a:t>
            </a:r>
            <a:r>
              <a:rPr lang="en-US" altLang="it-IT" sz="1000">
                <a:solidFill>
                  <a:schemeClr val="tx2"/>
                </a:solidFill>
                <a:latin typeface="Optima" pitchFamily="34" charset="0"/>
                <a:hlinkClick r:id="rId6"/>
              </a:rPr>
              <a:t>http://oro.open.ac.uk/12149/1/S0958344008000220a.pdf</a:t>
            </a:r>
            <a:endParaRPr lang="en-US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endParaRPr lang="en-GB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Gillen, J &amp; Barton, D (2010)  ‘Digital Literacies: A Research Briefing by the Technology Enhanced Learning phase of the Teaching and Learning Research programme’ [online] Accessed: 26/04/10, Available from: 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  <a:hlinkClick r:id="rId7"/>
              </a:rPr>
              <a:t>http://www.tlrp.org/docs/DigitalLiteracies.pdf</a:t>
            </a:r>
            <a:endParaRPr lang="en-GB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endParaRPr lang="en-GB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Hall, R (2009) ‘</a:t>
            </a:r>
            <a:r>
              <a:rPr lang="en-GB" altLang="it-IT" sz="1000" i="1">
                <a:solidFill>
                  <a:schemeClr val="tx2"/>
                </a:solidFill>
                <a:latin typeface="Optima" pitchFamily="34" charset="0"/>
              </a:rPr>
              <a:t>Towards a Fusion of Formal and Informal Learning Environments: the impact of the Read/Write web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’  Electronic Journal of E-Learning [online]  Accessed: 26/04/10 Vol.7 (1) pp.29-40 Available from: 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  <a:hlinkClick r:id="rId8"/>
              </a:rPr>
              <a:t>http://www.ejel.org/Volume-7/v7-i1/Hall.pdf</a:t>
            </a:r>
            <a:endParaRPr lang="en-GB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endParaRPr lang="en-GB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Hemmi, A.; Bayne, S.; Land, R. (2009) ‘</a:t>
            </a:r>
            <a:r>
              <a:rPr lang="en-GB" altLang="it-IT" sz="1000" i="1">
                <a:solidFill>
                  <a:schemeClr val="tx2"/>
                </a:solidFill>
                <a:latin typeface="Optima" pitchFamily="34" charset="0"/>
              </a:rPr>
              <a:t>The Appropriation and Repurposing of social technologies in higher education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  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  <a:hlinkClick r:id="rId9" tooltip="Journal of Computer Assisted Learning"/>
              </a:rPr>
              <a:t>Journal of Computer Assisted Learning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, [online] Accessed: 05/05/10 Vol.25 (1) pp.19-30(12) Available from: 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  <a:hlinkClick r:id="rId10"/>
              </a:rPr>
              <a:t>http://www.malts.ed.ac.uk/staff/sian/JCALpaper_final.pdf</a:t>
            </a:r>
            <a:endParaRPr lang="en-GB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endParaRPr lang="en-GB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Hughes, A [JISC]  (2009) ‘</a:t>
            </a:r>
            <a:r>
              <a:rPr lang="en-GB" altLang="it-IT" sz="1000" i="1">
                <a:solidFill>
                  <a:schemeClr val="tx2"/>
                </a:solidFill>
                <a:latin typeface="Optima" pitchFamily="34" charset="0"/>
              </a:rPr>
              <a:t>Higher Education in a Web 2.0 world’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  JISC [online] Accessed: 20/03/10, Available from: 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  <a:hlinkClick r:id="rId11"/>
              </a:rPr>
              <a:t>http://www.jisc.ac.uk/publications/generalpublications/2009/heweb2.aspx</a:t>
            </a:r>
            <a:endParaRPr lang="en-GB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endParaRPr lang="en-GB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800000"/>
              </a:buClr>
              <a:buFontTx/>
              <a:buChar char="•"/>
            </a:pP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Maloney, E. (2007) ‘W</a:t>
            </a:r>
            <a:r>
              <a:rPr lang="en-GB" altLang="it-IT" sz="1000" i="1">
                <a:solidFill>
                  <a:schemeClr val="tx2"/>
                </a:solidFill>
                <a:latin typeface="Optima" pitchFamily="34" charset="0"/>
              </a:rPr>
              <a:t>hat Web 2.0 Can Teach Us About Learning.’</a:t>
            </a:r>
            <a:r>
              <a:rPr lang="en-GB" altLang="it-IT" sz="1000">
                <a:solidFill>
                  <a:schemeClr val="tx2"/>
                </a:solidFill>
                <a:latin typeface="Optima" pitchFamily="34" charset="0"/>
              </a:rPr>
              <a:t> Chronicle of Higher Education [online] Vol. 53 (18) [Accessed: 26/04/10] Available from: </a:t>
            </a:r>
            <a:r>
              <a:rPr lang="en-GB" altLang="it-IT" sz="1000">
                <a:latin typeface="Optima" pitchFamily="34" charset="0"/>
                <a:hlinkClick r:id="rId12"/>
              </a:rPr>
              <a:t>http://0-web.ebscohost.com.emu.londonmet.ac.uk/ehost/detail?vid=7&amp;hid=104&amp;sid=aaa3543f-18c3-42b9-bbf6-c8729c527d12@sessionmgr112&amp;bdata=JnNpdGU9ZWhvc3QtbGl2ZQ%3d%3d#db=ehh&amp;AN=23647698</a:t>
            </a:r>
            <a:r>
              <a:rPr lang="en-GB" altLang="it-IT" sz="1000">
                <a:solidFill>
                  <a:srgbClr val="800000"/>
                </a:solidFill>
                <a:latin typeface="Optima" pitchFamily="34" charset="0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0000"/>
              <a:buFontTx/>
              <a:buNone/>
            </a:pPr>
            <a:endParaRPr lang="en-GB" altLang="it-IT" sz="1000">
              <a:solidFill>
                <a:srgbClr val="800000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0000"/>
              <a:buFontTx/>
              <a:buNone/>
            </a:pPr>
            <a:endParaRPr lang="en-GB" altLang="it-IT" sz="1000">
              <a:solidFill>
                <a:schemeClr val="tx2"/>
              </a:solidFill>
              <a:latin typeface="Optima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0000"/>
              <a:buFontTx/>
              <a:buNone/>
            </a:pPr>
            <a:endParaRPr lang="en-GB" altLang="it-IT" sz="800">
              <a:solidFill>
                <a:schemeClr val="tx2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0000"/>
              <a:buFontTx/>
              <a:buNone/>
            </a:pPr>
            <a:endParaRPr lang="en-GB" altLang="it-IT" sz="8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magin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05025"/>
            <a:ext cx="12192000" cy="474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412750"/>
            <a:ext cx="112712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nettore 1 6"/>
          <p:cNvCxnSpPr/>
          <p:nvPr/>
        </p:nvCxnSpPr>
        <p:spPr>
          <a:xfrm>
            <a:off x="1730375" y="331788"/>
            <a:ext cx="9525" cy="13239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1" name="CasellaDiTesto 5"/>
          <p:cNvSpPr txBox="1">
            <a:spLocks noChangeArrowheads="1"/>
          </p:cNvSpPr>
          <p:nvPr/>
        </p:nvSpPr>
        <p:spPr bwMode="auto">
          <a:xfrm>
            <a:off x="2019300" y="542925"/>
            <a:ext cx="6934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it-IT" altLang="it-IT" sz="2400">
                <a:latin typeface="Optima" pitchFamily="34" charset="0"/>
              </a:rPr>
              <a:t>BIBLIOGRAFIA / REFERENCES</a:t>
            </a:r>
          </a:p>
          <a:p>
            <a:pPr eaLnBrk="1" hangingPunct="1"/>
            <a:r>
              <a:rPr lang="it-IT" altLang="it-IT" sz="2400">
                <a:latin typeface="Optima" pitchFamily="34" charset="0"/>
              </a:rPr>
              <a:t>OPTIMA 24 CAPS NON BOLD</a:t>
            </a:r>
            <a:endParaRPr lang="it-IT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_copertina.potx" id="{8C29E7C1-C87C-4FCC-9C43-2E1E8B45E1B1}" vid="{6BDFA3AF-07A8-429C-8068-1599AA0DCF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Words>619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Calibri Light</vt:lpstr>
      <vt:lpstr>Optima</vt:lpstr>
      <vt:lpstr>Wingdings 3</vt:lpstr>
      <vt:lpstr>Tema di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Majuri Anna</dc:creator>
  <cp:lastModifiedBy>Convertio</cp:lastModifiedBy>
  <cp:revision>11</cp:revision>
  <dcterms:created xsi:type="dcterms:W3CDTF">2021-03-18T08:28:47Z</dcterms:created>
  <dcterms:modified xsi:type="dcterms:W3CDTF">2026-07-11T13:57:28Z</dcterms:modified>
</cp:coreProperties>
</file>