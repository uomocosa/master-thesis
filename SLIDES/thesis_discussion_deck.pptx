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8"/>
    <p:sldId id="258" r:id="rId9"/>
    <p:sldId id="259" r:id="rId5"/>
    <p:sldId id="260" r:id="rId4"/>
    <p:sldId id="261" r:id="rId3"/>
    <p:sldId id="262" r:id="rId2"/>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p:notesSz cx="6858000" cy="9144000"/>
  <p:defaultTextStyle>
    <a:defPPr>
      <a:defRPr lang="it-IT"/>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1" d="100"/>
          <a:sy n="101" d="100"/>
        </p:scale>
        <p:origin x="138"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Partiamo dal problema: le acque reflue contengono molecole inquinanti — farmaci, coloranti, altri contaminanti — che i trattamenti standard faticano a rimuovere in modo mirato. In letteratura esistono già esempi di "spugne molecolari", polimeri progettati per adsorbire selettivamente queste molecole, con risultati sperimentali incoraggianti. Il problema è che ogni nuovo polimero richiede tipicamente sintesi e test in laboratorio, un processo lento e costoso. L'obiettivo della mia tesi è quindi predire e generare polimeri — le "spugne molecolari" — capaci di adsorbire molecole inquinanti target dalle acque reflue, ma per via computazionale: invece di scegliere a mano un polimero e testarlo in laboratorio, ho costruito una pipeline in grado di proporre e valutare automaticamente polimeri candidati.</a:t>
            </a:r>
          </a:p>
          <a:p/>
          <a:p>
            <a:r>
              <a:t>TODO:</a:t>
            </a:r>
          </a:p>
          <a:p>
            <a:r>
              <a:t>- Foto acque reflue contaminate ancora da trovare.</a:t>
            </a:r>
          </a:p>
          <a:p>
            <a:r>
              <a:t>- Citazione visibile per la spugna dual (Single and dual polymeric sponges, Eur. Polym. J. 2022).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tesi si basa su due sistemi complementari. Uno è generativo: propone nuovi candidati polimerici. L'altro è predittivo: dato un polimero e una molecola target, stima quanto di quella molecola il polimero riesce ad adsorbire. A collegarli c'è un filtro basato sulla conoscenza di dominio. Questi due sistemi formano una pipeline, in grado, dato in input una molecola che vogliamo "catturare" (ed iperparametri configurabili), di proporre in output una serie di polimeri che il modello predice essere dei buoni candidati.</a:t>
            </a:r>
          </a:p>
          <a:p/>
          <a:p>
            <a:r>
              <a:t>TODO:</a:t>
            </a:r>
          </a:p>
          <a:p>
            <a:r>
              <a:t>- Produrre il diagramma a due riquadri con freccia di confluenza.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primo lavoro è stato costruire il dataset stesso. Ho estratto dati di adsorbimento polimero-farmaco da articoli pubblicati per creare quello che chiamo dataset PDCC — "Polymer, Drug (più in generale Molecola), Concentration e Capacity" — a questi è stato inoltre associato anche il pH. Non esisteva un dataset già pronto per questo scopo, quindi questo lavoro di raccolta e cura dei dati è stato una base necessaria per tutto ciò che è venuto dopo.</a:t>
            </a:r>
          </a:p>
          <a:p/>
          <a:p>
            <a:r>
              <a:t>TODO:</a:t>
            </a:r>
          </a:p>
          <a:p>
            <a:r>
              <a:t>- Inserire un piccolo estratto di tabella PDCC come immagine.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Purtroppo, questo campo di ricerca semplicemente non ha molti dati pubblicati. Pochissimi studi riportano capacità di adsorbimento polimero-molecola in modo direttamente confrontabile. Questo non è un limite del progetto — è un vincolo strutturale del settore — ma è la sfida centrale attorno a cui è costruita tutta la metodologia successiva, e ci tornerò quando parlerò dei risultati del modello predittivo.</a:t>
            </a:r>
          </a:p>
          <a:p/>
          <a:p>
            <a:r>
              <a:t>TODO:</a:t>
            </a:r>
          </a:p>
          <a:p>
            <a:r>
              <a:t>- Eventuale grafico a barre: punti dati per coppia polimero-molecola.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di andare avanti, vale la pena spiegare due notazioni che torneranno in quasi tutte le slide successive. SMILES è un modo standard per scrivere una molecola come una semplice stringa di testo, che codifica atomi e legami. P-SMILES fa lo stesso per i polimeri, rappresentando l'unità ripetuta della catena polimerica. Tutta la parte generativa e predittiva della mia pipeline lavora proprio su queste due rappresentazioni testuali.</a:t>
            </a:r>
          </a:p>
          <a:p/>
          <a:p>
            <a:r>
              <a:t>TODO:</a:t>
            </a:r>
          </a:p>
          <a:p>
            <a:r>
              <a:t>- Generare con rdkit: aspirina + SMILES a sinistra, unità ripetuta + P-SMILES a destra.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far lavorare i modelli su polimeri e molecole, serve prima trasformarli in numeri. Questa fase, che chiamo featurizzazione, prende una stringa SMILES o P-SMILES e ne estrae proprietà fisico-chimiche rilevanti — trasformando di fatto una rappresentazione testuale in un vettore di feature numeriche che i modelli successivi possono usare.</a:t>
            </a:r>
          </a:p>
          <a:p/>
          <a:p>
            <a:r>
              <a:t>TODO:</a:t>
            </a:r>
          </a:p>
          <a:p>
            <a:r>
              <a:t>- Diagramma: SMILES → immagine molecola (rdkit) → vettore di feature.</a:t>
            </a:r>
          </a:p>
          <a:p>
            <a:r>
              <a:t>- Verificare se polymetrix genera immagini della struttura polimerica da P-SMILES.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Quando i punti sperimentali erano pochi ma il loro andamento era abbastanza regolare da poter essere interpolato con fiducia, ho usato l'interpolazione per aumentare i dati disponibili. Solo dopo aver interpolato ho aggiunto anche il punto (0,0): a concentrazione zero del polimero, l'adsorbimento è per definizione zero.</a:t>
            </a:r>
          </a:p>
          <a:p/>
          <a:p>
            <a:r>
              <a:t>TODO:</a:t>
            </a:r>
          </a:p>
          <a:p>
            <a:r>
              <a:t>- Produrre il video Python: curva originale + punti sperimentali + punti interpolati aggiunti progressivamente.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la parte generativa, ho addestrato un wrapper attorno a mingpt per generare stringhe SMILES valide per le molecole, e stringhe P-SMILES per i polimeri. Il modello impara la "grammatica" della notazione chimica notevolmente bene, al punto da proporre strutture nuove, sintatticamente e chimicamente valide, invece di limitarsi a memorizzare gli esempi di training.</a:t>
            </a:r>
          </a:p>
          <a:p/>
          <a:p>
            <a:r>
              <a:t>TODO:</a:t>
            </a:r>
          </a:p>
          <a:p>
            <a:r>
              <a:t>- Diagramma: architettura mingpt, input token SMILES → output stringa generata.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 12.800 molecole generate, 5.525 stringhe SMILES erano al tempo stesso nuove e chimicamente valide, mentre per le P-SMILES il numero era 7.373 su 12.800. Considero questo un risultato molto solido — il modello propone in modo affidabile candidati polimerici nuovi e validi, che è esattamente ciò che serve nella prima fase della pipeline, e in poche ore riesce a generare decine di migliaia di nuovi candidati.</a:t>
            </a:r>
          </a:p>
          <a:p/>
          <a:p>
            <a:r>
              <a:t>TODO:</a:t>
            </a:r>
          </a:p>
          <a:p>
            <a:r>
              <a:t>- Valutare layout "due numeri grandi affiancati" invece dei bullet.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la parte predittiva, ho eseguito una leave-one-out cross-validation su un gran numero di configurazioni di iperparametri, classificandole per punteggio Q2 — un punteggio che confronta l'errore del modello con l'errore che si avrebbe usando semplicemente il valore medio come previsione: più si avvicina a 1, più il modello è informativo rispetto a una previsione banale. Ho selezionato la configurazione con le prestazioni migliori come modello finale — lo chiamo PSCP, o "PSmileCapacityPredictor".</a:t>
            </a:r>
          </a:p>
          <a:p/>
          <a:p>
            <a:r>
              <a:t>TODO:</a:t>
            </a:r>
          </a:p>
          <a:p>
            <a:r>
              <a:t>- Diagramma del ciclo LOOCV → classifica per Q2 → selezione.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modello PSCP trovato prende in input un polimero, una molecola target, la concentrazione e il pH, ne estrae le feature, scala gli input e restituisce in output una capacità di adsorbimento predetta. È quindi un unico modello che prova a riflettere tutte le condizioni sperimentali che possano influenzare realmente l'adsorbimento nella pratica.</a:t>
            </a:r>
          </a:p>
          <a:p/>
          <a:p>
            <a:r>
              <a:t>TODO:</a:t>
            </a:r>
          </a:p>
          <a:p>
            <a:r>
              <a:t>- Riquadro input/output grafico.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problema pratico che ho dovuto risolvere: rdkit non supporta nativamente i polimeri, solo le molecole. La mia soluzione è stata prendere gli SMILES dei monomeri, "tapparli" con idrogeno e trattarli come molecole ordinarie, così da poter estrarre proprietà come il logP e il synthetic accessibility score.</a:t>
            </a:r>
          </a:p>
          <a:p/>
          <a:p>
            <a:r>
              <a:t>TODO:</a:t>
            </a:r>
          </a:p>
          <a:p>
            <a:r>
              <a:t>- Decidere se questa slide resta dedicata o va accorpata altrove.</a:t>
            </a:r>
          </a:p>
          <a:p>
            <a:r>
              <a:t>- Diagramma: unità ripetuta → SMILES monomero → tappata con H → feature rdkit.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configurazione migliore ha raggiunto un Q2 di 0,984, con un errore assoluto medio di circa 1,5 e un RMSE di circa 6,5. Questo risultato è da considerarsi un "proof-of-concept" — dimostra che l'approccio può funzionare, ed è validato sui dati attualmente disponibili — ma il vero banco di prova della generalizzazione arriverà con altre misurazioni pubblicate. Ed è esattamente qui che il punto sulla scarsità di dati, sollevato qualche slide fa, torna a farsi sentire.</a:t>
            </a:r>
          </a:p>
          <a:p/>
          <a:p>
            <a:r>
              <a:t>TODO:</a:t>
            </a:r>
          </a:p>
          <a:p>
            <a:r>
              <a:t>- Estratto leaderboard da RESULTS/mlp_experiments/q2_leaderboard.md come immagine/tabella.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volta ottenuti i polimeri candidati, li filtro usando la teoria degli orbitali molecolari di frontiera. Seleziono un logP alto in modo che il polimero rimanga solido e insolubile in acqua, un TPSA più alto per i siti di legame polari, un gap FMO intermolecolare più basso per un legame donatore-accettore più forte, e un SA score più basso così da essere realisticamente sintetizzabile su scala.</a:t>
            </a:r>
          </a:p>
          <a:p/>
          <a:p>
            <a:r>
              <a:t>TODO:</a:t>
            </a:r>
          </a:p>
          <a:p>
            <a:r>
              <a:t>- Icone/etichette per i quattro criteri.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 il resto della pipeline, anche questo filtro è modulare: si può sostituire o affinare senza toccare il resto del sistema. Il filtro attuale è piuttosto severo e scarta molti dei polimeri generati — ma essendo in grado di generare diecimila nuovi P-SMILES nell'arco di poche ore, posso permettermi un filtro così "aggressivo": anche scartando la maggior parte dei candidati, restano comunque abbastanza polimeri promettenti da valutare.</a:t>
            </a:r>
          </a:p>
          <a:p/>
          <a:p>
            <a:r>
              <a:t>TODO:</a:t>
            </a:r>
          </a:p>
          <a:p>
            <a:r>
              <a:t>- Diagramma a imbuto: generati → filtro → sopravvissuti.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 anche eseguito un clustering gerarchico agglomerativo sul dataset per esplorare la struttura nelle coppie polimero-molecola. Il silhouette score ha avuto un picco a 63 cluster, il che riflette quanto sia eterogeneo questo dataset — non è di per sé una segmentazione utile. Lo presento come uno strumento esplorativo e di interpretabilità, che aiuta a capire cosa guida i raggruppamenti nei dati, non come un risultato predittivo di rilievo.</a:t>
            </a:r>
          </a:p>
          <a:p/>
          <a:p>
            <a:r>
              <a:t>TODO:</a:t>
            </a:r>
          </a:p>
          <a:p>
            <a:r>
              <a:t>- Aggiungere curva del silhouette score con picco a 63 cluster (da produrre).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Tutto questo confluisce in un'unica funzione che chiamo find_polymer_for_target_molecule. Le si dà una molecola target, lei la converte in SMILES, genera polimeri candidati, li filtra, ne predice la capacità e ripete il ciclo — proponendo altri candidati — finché non raggiunge la capacità target. La maggior parte dei componenti della pipeline è inoltre modulare: possiamo teoricamente accomodare futuri sviluppi, miglioramenti, diversi filtri e modelli di generazione e predizione.</a:t>
            </a:r>
          </a:p>
          <a:p/>
          <a:p>
            <a:r>
              <a:t>TODO:</a:t>
            </a:r>
          </a:p>
          <a:p>
            <a:r>
              <a:t>- Diagramma di flusso completo della pipeline con ciclo.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attaccare il problema della scarsità di dati alla radice, ho costruito un secondo strumento, che chiamo paper_scraper. Recupera paper ad accesso aperto tramite OpenAlex, ne estrae altri tramite Grobid, e infine usa un LLM per estrarre automaticamente le informazioni utili — polimero, molecola, concentrazione, capacità, pH — direttamente dal testo dei paper. L'ho testato con diversi modelli: Gemma, DeepSeek, Kimi e Claude Opus.</a:t>
            </a:r>
          </a:p>
          <a:p/>
          <a:p>
            <a:r>
              <a:t>TODO:</a:t>
            </a:r>
          </a:p>
          <a:p>
            <a:r>
              <a:t>- Diagramma di flusso OpenAlex → Grobid → LLM → PDCC con nomi dei modelli.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 oggi mancano ancora paper sufficienti, e questo resta un vincolo reale. Ma guardando avanti, mi aspetto che nel tempo emergano nuovi paper da cui estrarre dati, e che i modelli LLM diventino sempre più capaci ed efficienti: questo strumento è pensato proprio per sfruttare quella crescita ed espandere il dataset PDCC in modo via via più automatico.</a:t>
            </a:r>
          </a:p>
          <a:p/>
          <a:p>
            <a:r>
              <a:t>TODO:</a:t>
            </a:r>
          </a:p>
          <a:p>
            <a:r>
              <a:t>- Freccia temporale oggi → domani.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Voglio essere diretto sui limiti. Primo, i dati: ci sono troppe poche misurazioni di capacità pubblicate per addestrare o validare in modo robusto il modello predittivo, e in particolare mancano dati di risultato negativo — polimeri che non adsorbono — che affinerebbero sia il filtro sia il modello. Secondo, la validazione: nulla di generato da questa pipeline è stato testato in laboratorio. Ogni risultato che ho mostrato è puramente computazionale.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sono anche alcuni limiti di ambito. Il modello generativo è stato addestrato sul dataset sintetico PI1M, non sul dataset proprietario PolyInfo da cui PI1M deriva, poiché non avevo accesso a quest'ultimo. Convertire i nomi grezzi dei materiali in SMILES è semplice grazie a PubChem, ma la conversione in P-SMILES è ancora manuale e limitata. E l'intera pipeline considera solo materiali a polimero singolo — nessun composito a doppio polimero o multi-materiale, per ora.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Guardando avanti, il prossimo passo a maggior valore è semplicemente più dati — in particolare risultati negativi — che migliorerebbero in modo significativo sia il filtro sia il modello predittivo. Oltre a questo, vorrei esplorare notazioni polimeriche alternative come BigSmiles se i dati lo permettono, provare architetture più complesse come le graph neural network una volta disponibili abbastanza dati da giustificarle, cercare l'accesso al dataset proprietario PolyInfo, ed estendere la pipeline a input multi-materiale e a doppio polimero.</a:t>
            </a:r>
          </a:p>
          <a:p/>
          <a:p>
            <a:r>
              <a:t>TODO:</a:t>
            </a:r>
          </a:p>
          <a:p>
            <a:r>
              <a:t>- Lista in stile roadmap con icone.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smtClean="0"/>
              <a:t>Fare clic per modificare lo stile del titolo</a:t>
            </a:r>
            <a:endParaRPr lang="it-IT"/>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lvl1pPr>
              <a:defRPr/>
            </a:lvl1pPr>
          </a:lstStyle>
          <a:p>
            <a:pPr>
              <a:defRPr/>
            </a:pPr>
            <a:fld id="{3779760E-CB2C-403A-B237-A5B0A204F263}" type="datetimeFigureOut">
              <a:rPr lang="it-IT"/>
              <a:pPr>
                <a:defRPr/>
              </a:pPr>
              <a:t>11/07/2026</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7E6EBB52-CA95-4950-9FB5-C89FC0B1633F}" type="slidenum">
              <a:rPr lang="it-IT"/>
              <a:pPr>
                <a:defRPr/>
              </a:pPr>
              <a:t>‹#›</a:t>
            </a:fld>
            <a:endParaRPr lang="it-IT"/>
          </a:p>
        </p:txBody>
      </p:sp>
    </p:spTree>
    <p:extLst>
      <p:ext uri="{BB962C8B-B14F-4D97-AF65-F5344CB8AC3E}">
        <p14:creationId xmlns:p14="http://schemas.microsoft.com/office/powerpoint/2010/main" val="2347997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lvl1pPr>
              <a:defRPr/>
            </a:lvl1pPr>
          </a:lstStyle>
          <a:p>
            <a:pPr>
              <a:defRPr/>
            </a:pPr>
            <a:fld id="{A0E5BDD3-3D54-4F90-8B00-F4A4A294D858}" type="datetimeFigureOut">
              <a:rPr lang="it-IT"/>
              <a:pPr>
                <a:defRPr/>
              </a:pPr>
              <a:t>11/07/2026</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1ADAFFDA-496F-418F-92A9-47908C0508ED}" type="slidenum">
              <a:rPr lang="it-IT"/>
              <a:pPr>
                <a:defRPr/>
              </a:pPr>
              <a:t>‹#›</a:t>
            </a:fld>
            <a:endParaRPr lang="it-IT"/>
          </a:p>
        </p:txBody>
      </p:sp>
    </p:spTree>
    <p:extLst>
      <p:ext uri="{BB962C8B-B14F-4D97-AF65-F5344CB8AC3E}">
        <p14:creationId xmlns:p14="http://schemas.microsoft.com/office/powerpoint/2010/main" val="54468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smtClean="0"/>
              <a:t>Fare clic per modificare lo stile del titolo</a:t>
            </a:r>
            <a:endParaRPr lang="it-IT"/>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fld id="{DF9D7F83-E6F4-4FCA-8BBC-DF66CB14678E}" type="datetimeFigureOut">
              <a:rPr lang="it-IT"/>
              <a:pPr>
                <a:defRPr/>
              </a:pPr>
              <a:t>11/07/2026</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0B288ED4-C856-49A5-8D6A-E23D259839C2}" type="slidenum">
              <a:rPr lang="it-IT"/>
              <a:pPr>
                <a:defRPr/>
              </a:pPr>
              <a:t>‹#›</a:t>
            </a:fld>
            <a:endParaRPr lang="it-IT"/>
          </a:p>
        </p:txBody>
      </p:sp>
    </p:spTree>
    <p:extLst>
      <p:ext uri="{BB962C8B-B14F-4D97-AF65-F5344CB8AC3E}">
        <p14:creationId xmlns:p14="http://schemas.microsoft.com/office/powerpoint/2010/main" val="1552558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838200" y="1825625"/>
            <a:ext cx="5181600" cy="435133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6172200" y="1825625"/>
            <a:ext cx="5181600" cy="435133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3"/>
          <p:cNvSpPr>
            <a:spLocks noGrp="1"/>
          </p:cNvSpPr>
          <p:nvPr>
            <p:ph type="dt" sz="half" idx="10"/>
          </p:nvPr>
        </p:nvSpPr>
        <p:spPr/>
        <p:txBody>
          <a:bodyPr/>
          <a:lstStyle>
            <a:lvl1pPr>
              <a:defRPr/>
            </a:lvl1pPr>
          </a:lstStyle>
          <a:p>
            <a:pPr>
              <a:defRPr/>
            </a:pPr>
            <a:fld id="{93922465-B775-4053-86F3-263AA3B6850E}" type="datetimeFigureOut">
              <a:rPr lang="it-IT"/>
              <a:pPr>
                <a:defRPr/>
              </a:pPr>
              <a:t>11/07/2026</a:t>
            </a:fld>
            <a:endParaRPr lang="it-IT"/>
          </a:p>
        </p:txBody>
      </p:sp>
      <p:sp>
        <p:nvSpPr>
          <p:cNvPr id="6" name="Segnaposto piè di pagina 4"/>
          <p:cNvSpPr>
            <a:spLocks noGrp="1"/>
          </p:cNvSpPr>
          <p:nvPr>
            <p:ph type="ftr" sz="quarter" idx="11"/>
          </p:nvPr>
        </p:nvSpPr>
        <p:spPr/>
        <p:txBody>
          <a:bodyPr/>
          <a:lstStyle>
            <a:lvl1pPr>
              <a:defRPr/>
            </a:lvl1pPr>
          </a:lstStyle>
          <a:p>
            <a:pPr>
              <a:defRPr/>
            </a:pPr>
            <a:endParaRPr lang="it-IT"/>
          </a:p>
        </p:txBody>
      </p:sp>
      <p:sp>
        <p:nvSpPr>
          <p:cNvPr id="7" name="Segnaposto numero diapositiva 5"/>
          <p:cNvSpPr>
            <a:spLocks noGrp="1"/>
          </p:cNvSpPr>
          <p:nvPr>
            <p:ph type="sldNum" sz="quarter" idx="12"/>
          </p:nvPr>
        </p:nvSpPr>
        <p:spPr/>
        <p:txBody>
          <a:bodyPr/>
          <a:lstStyle>
            <a:lvl1pPr>
              <a:defRPr/>
            </a:lvl1pPr>
          </a:lstStyle>
          <a:p>
            <a:pPr>
              <a:defRPr/>
            </a:pPr>
            <a:fld id="{530AF790-FD91-46F0-9C59-9E89E9CEEF86}" type="slidenum">
              <a:rPr lang="it-IT"/>
              <a:pPr>
                <a:defRPr/>
              </a:pPr>
              <a:t>‹#›</a:t>
            </a:fld>
            <a:endParaRPr lang="it-IT"/>
          </a:p>
        </p:txBody>
      </p:sp>
    </p:spTree>
    <p:extLst>
      <p:ext uri="{BB962C8B-B14F-4D97-AF65-F5344CB8AC3E}">
        <p14:creationId xmlns:p14="http://schemas.microsoft.com/office/powerpoint/2010/main" val="56723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smtClean="0"/>
              <a:t>Fare clic per modificare lo stile del titolo</a:t>
            </a:r>
            <a:endParaRPr lang="it-IT"/>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3"/>
          <p:cNvSpPr>
            <a:spLocks noGrp="1"/>
          </p:cNvSpPr>
          <p:nvPr>
            <p:ph type="dt" sz="half" idx="10"/>
          </p:nvPr>
        </p:nvSpPr>
        <p:spPr/>
        <p:txBody>
          <a:bodyPr/>
          <a:lstStyle>
            <a:lvl1pPr>
              <a:defRPr/>
            </a:lvl1pPr>
          </a:lstStyle>
          <a:p>
            <a:pPr>
              <a:defRPr/>
            </a:pPr>
            <a:fld id="{2B890D12-EAB8-4DC5-B485-C26391EFB6ED}" type="datetimeFigureOut">
              <a:rPr lang="it-IT"/>
              <a:pPr>
                <a:defRPr/>
              </a:pPr>
              <a:t>11/07/2026</a:t>
            </a:fld>
            <a:endParaRPr lang="it-IT"/>
          </a:p>
        </p:txBody>
      </p:sp>
      <p:sp>
        <p:nvSpPr>
          <p:cNvPr id="8" name="Segnaposto piè di pagina 4"/>
          <p:cNvSpPr>
            <a:spLocks noGrp="1"/>
          </p:cNvSpPr>
          <p:nvPr>
            <p:ph type="ftr" sz="quarter" idx="11"/>
          </p:nvPr>
        </p:nvSpPr>
        <p:spPr/>
        <p:txBody>
          <a:bodyPr/>
          <a:lstStyle>
            <a:lvl1pPr>
              <a:defRPr/>
            </a:lvl1pPr>
          </a:lstStyle>
          <a:p>
            <a:pPr>
              <a:defRPr/>
            </a:pPr>
            <a:endParaRPr lang="it-IT"/>
          </a:p>
        </p:txBody>
      </p:sp>
      <p:sp>
        <p:nvSpPr>
          <p:cNvPr id="9" name="Segnaposto numero diapositiva 5"/>
          <p:cNvSpPr>
            <a:spLocks noGrp="1"/>
          </p:cNvSpPr>
          <p:nvPr>
            <p:ph type="sldNum" sz="quarter" idx="12"/>
          </p:nvPr>
        </p:nvSpPr>
        <p:spPr/>
        <p:txBody>
          <a:bodyPr/>
          <a:lstStyle>
            <a:lvl1pPr>
              <a:defRPr/>
            </a:lvl1pPr>
          </a:lstStyle>
          <a:p>
            <a:pPr>
              <a:defRPr/>
            </a:pPr>
            <a:fld id="{3D0C92C2-AF2E-43B0-83B9-92AFF9297B98}" type="slidenum">
              <a:rPr lang="it-IT"/>
              <a:pPr>
                <a:defRPr/>
              </a:pPr>
              <a:t>‹#›</a:t>
            </a:fld>
            <a:endParaRPr lang="it-IT"/>
          </a:p>
        </p:txBody>
      </p:sp>
    </p:spTree>
    <p:extLst>
      <p:ext uri="{BB962C8B-B14F-4D97-AF65-F5344CB8AC3E}">
        <p14:creationId xmlns:p14="http://schemas.microsoft.com/office/powerpoint/2010/main" val="3300522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3"/>
          <p:cNvSpPr>
            <a:spLocks noGrp="1"/>
          </p:cNvSpPr>
          <p:nvPr>
            <p:ph type="dt" sz="half" idx="10"/>
          </p:nvPr>
        </p:nvSpPr>
        <p:spPr/>
        <p:txBody>
          <a:bodyPr/>
          <a:lstStyle>
            <a:lvl1pPr>
              <a:defRPr/>
            </a:lvl1pPr>
          </a:lstStyle>
          <a:p>
            <a:pPr>
              <a:defRPr/>
            </a:pPr>
            <a:fld id="{5CF41D13-2FFE-4D21-A237-5C7666BE692F}" type="datetimeFigureOut">
              <a:rPr lang="it-IT"/>
              <a:pPr>
                <a:defRPr/>
              </a:pPr>
              <a:t>11/07/2026</a:t>
            </a:fld>
            <a:endParaRPr lang="it-IT"/>
          </a:p>
        </p:txBody>
      </p:sp>
      <p:sp>
        <p:nvSpPr>
          <p:cNvPr id="4" name="Segnaposto piè di pagina 4"/>
          <p:cNvSpPr>
            <a:spLocks noGrp="1"/>
          </p:cNvSpPr>
          <p:nvPr>
            <p:ph type="ftr" sz="quarter" idx="11"/>
          </p:nvPr>
        </p:nvSpPr>
        <p:spPr/>
        <p:txBody>
          <a:bodyPr/>
          <a:lstStyle>
            <a:lvl1pPr>
              <a:defRPr/>
            </a:lvl1pPr>
          </a:lstStyle>
          <a:p>
            <a:pPr>
              <a:defRPr/>
            </a:pPr>
            <a:endParaRPr lang="it-IT"/>
          </a:p>
        </p:txBody>
      </p:sp>
      <p:sp>
        <p:nvSpPr>
          <p:cNvPr id="5" name="Segnaposto numero diapositiva 5"/>
          <p:cNvSpPr>
            <a:spLocks noGrp="1"/>
          </p:cNvSpPr>
          <p:nvPr>
            <p:ph type="sldNum" sz="quarter" idx="12"/>
          </p:nvPr>
        </p:nvSpPr>
        <p:spPr/>
        <p:txBody>
          <a:bodyPr/>
          <a:lstStyle>
            <a:lvl1pPr>
              <a:defRPr/>
            </a:lvl1pPr>
          </a:lstStyle>
          <a:p>
            <a:pPr>
              <a:defRPr/>
            </a:pPr>
            <a:fld id="{106D265A-7CDB-4227-86AF-9EDC808BFAE0}" type="slidenum">
              <a:rPr lang="it-IT"/>
              <a:pPr>
                <a:defRPr/>
              </a:pPr>
              <a:t>‹#›</a:t>
            </a:fld>
            <a:endParaRPr lang="it-IT"/>
          </a:p>
        </p:txBody>
      </p:sp>
    </p:spTree>
    <p:extLst>
      <p:ext uri="{BB962C8B-B14F-4D97-AF65-F5344CB8AC3E}">
        <p14:creationId xmlns:p14="http://schemas.microsoft.com/office/powerpoint/2010/main" val="101406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pPr>
              <a:defRPr/>
            </a:pPr>
            <a:fld id="{ACEE42A5-601A-43A3-8C21-EB1AA6FAC17E}" type="datetimeFigureOut">
              <a:rPr lang="it-IT"/>
              <a:pPr>
                <a:defRPr/>
              </a:pPr>
              <a:t>11/07/2026</a:t>
            </a:fld>
            <a:endParaRPr lang="it-IT"/>
          </a:p>
        </p:txBody>
      </p:sp>
      <p:sp>
        <p:nvSpPr>
          <p:cNvPr id="3" name="Segnaposto piè di pagina 4"/>
          <p:cNvSpPr>
            <a:spLocks noGrp="1"/>
          </p:cNvSpPr>
          <p:nvPr>
            <p:ph type="ftr" sz="quarter" idx="11"/>
          </p:nvPr>
        </p:nvSpPr>
        <p:spPr/>
        <p:txBody>
          <a:bodyPr/>
          <a:lstStyle>
            <a:lvl1pPr>
              <a:defRPr/>
            </a:lvl1pPr>
          </a:lstStyle>
          <a:p>
            <a:pPr>
              <a:defRPr/>
            </a:pPr>
            <a:endParaRPr lang="it-IT"/>
          </a:p>
        </p:txBody>
      </p:sp>
      <p:sp>
        <p:nvSpPr>
          <p:cNvPr id="4" name="Segnaposto numero diapositiva 5"/>
          <p:cNvSpPr>
            <a:spLocks noGrp="1"/>
          </p:cNvSpPr>
          <p:nvPr>
            <p:ph type="sldNum" sz="quarter" idx="12"/>
          </p:nvPr>
        </p:nvSpPr>
        <p:spPr/>
        <p:txBody>
          <a:bodyPr/>
          <a:lstStyle>
            <a:lvl1pPr>
              <a:defRPr/>
            </a:lvl1pPr>
          </a:lstStyle>
          <a:p>
            <a:pPr>
              <a:defRPr/>
            </a:pPr>
            <a:fld id="{6CCAB049-40BA-4DC6-BF34-8A65B43F289C}" type="slidenum">
              <a:rPr lang="it-IT"/>
              <a:pPr>
                <a:defRPr/>
              </a:pPr>
              <a:t>‹#›</a:t>
            </a:fld>
            <a:endParaRPr lang="it-IT"/>
          </a:p>
        </p:txBody>
      </p:sp>
    </p:spTree>
    <p:extLst>
      <p:ext uri="{BB962C8B-B14F-4D97-AF65-F5344CB8AC3E}">
        <p14:creationId xmlns:p14="http://schemas.microsoft.com/office/powerpoint/2010/main" val="254038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Fare clic per modificare stili del testo dello schema</a:t>
            </a:r>
          </a:p>
        </p:txBody>
      </p:sp>
      <p:sp>
        <p:nvSpPr>
          <p:cNvPr id="5" name="Segnaposto data 3"/>
          <p:cNvSpPr>
            <a:spLocks noGrp="1"/>
          </p:cNvSpPr>
          <p:nvPr>
            <p:ph type="dt" sz="half" idx="10"/>
          </p:nvPr>
        </p:nvSpPr>
        <p:spPr/>
        <p:txBody>
          <a:bodyPr/>
          <a:lstStyle>
            <a:lvl1pPr>
              <a:defRPr/>
            </a:lvl1pPr>
          </a:lstStyle>
          <a:p>
            <a:pPr>
              <a:defRPr/>
            </a:pPr>
            <a:fld id="{CCC96D94-9D15-439E-9CE7-937E9897F0E7}" type="datetimeFigureOut">
              <a:rPr lang="it-IT"/>
              <a:pPr>
                <a:defRPr/>
              </a:pPr>
              <a:t>11/07/2026</a:t>
            </a:fld>
            <a:endParaRPr lang="it-IT"/>
          </a:p>
        </p:txBody>
      </p:sp>
      <p:sp>
        <p:nvSpPr>
          <p:cNvPr id="6" name="Segnaposto piè di pagina 4"/>
          <p:cNvSpPr>
            <a:spLocks noGrp="1"/>
          </p:cNvSpPr>
          <p:nvPr>
            <p:ph type="ftr" sz="quarter" idx="11"/>
          </p:nvPr>
        </p:nvSpPr>
        <p:spPr/>
        <p:txBody>
          <a:bodyPr/>
          <a:lstStyle>
            <a:lvl1pPr>
              <a:defRPr/>
            </a:lvl1pPr>
          </a:lstStyle>
          <a:p>
            <a:pPr>
              <a:defRPr/>
            </a:pPr>
            <a:endParaRPr lang="it-IT"/>
          </a:p>
        </p:txBody>
      </p:sp>
      <p:sp>
        <p:nvSpPr>
          <p:cNvPr id="7" name="Segnaposto numero diapositiva 5"/>
          <p:cNvSpPr>
            <a:spLocks noGrp="1"/>
          </p:cNvSpPr>
          <p:nvPr>
            <p:ph type="sldNum" sz="quarter" idx="12"/>
          </p:nvPr>
        </p:nvSpPr>
        <p:spPr/>
        <p:txBody>
          <a:bodyPr/>
          <a:lstStyle>
            <a:lvl1pPr>
              <a:defRPr/>
            </a:lvl1pPr>
          </a:lstStyle>
          <a:p>
            <a:pPr>
              <a:defRPr/>
            </a:pPr>
            <a:fld id="{D1F179B4-80BB-4699-BDFD-F54CAE1E846C}" type="slidenum">
              <a:rPr lang="it-IT"/>
              <a:pPr>
                <a:defRPr/>
              </a:pPr>
              <a:t>‹#›</a:t>
            </a:fld>
            <a:endParaRPr lang="it-IT"/>
          </a:p>
        </p:txBody>
      </p:sp>
    </p:spTree>
    <p:extLst>
      <p:ext uri="{BB962C8B-B14F-4D97-AF65-F5344CB8AC3E}">
        <p14:creationId xmlns:p14="http://schemas.microsoft.com/office/powerpoint/2010/main" val="2526580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smtClean="0"/>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smtClean="0"/>
              <a:t>Fare clic per modificare stili del testo dello schema</a:t>
            </a:r>
          </a:p>
        </p:txBody>
      </p:sp>
      <p:sp>
        <p:nvSpPr>
          <p:cNvPr id="5" name="Segnaposto data 3"/>
          <p:cNvSpPr>
            <a:spLocks noGrp="1"/>
          </p:cNvSpPr>
          <p:nvPr>
            <p:ph type="dt" sz="half" idx="10"/>
          </p:nvPr>
        </p:nvSpPr>
        <p:spPr/>
        <p:txBody>
          <a:bodyPr/>
          <a:lstStyle>
            <a:lvl1pPr>
              <a:defRPr/>
            </a:lvl1pPr>
          </a:lstStyle>
          <a:p>
            <a:pPr>
              <a:defRPr/>
            </a:pPr>
            <a:fld id="{4584894D-BC3F-4DBB-B5CF-B9D305AC82C9}" type="datetimeFigureOut">
              <a:rPr lang="it-IT"/>
              <a:pPr>
                <a:defRPr/>
              </a:pPr>
              <a:t>11/07/2026</a:t>
            </a:fld>
            <a:endParaRPr lang="it-IT"/>
          </a:p>
        </p:txBody>
      </p:sp>
      <p:sp>
        <p:nvSpPr>
          <p:cNvPr id="6" name="Segnaposto piè di pagina 4"/>
          <p:cNvSpPr>
            <a:spLocks noGrp="1"/>
          </p:cNvSpPr>
          <p:nvPr>
            <p:ph type="ftr" sz="quarter" idx="11"/>
          </p:nvPr>
        </p:nvSpPr>
        <p:spPr/>
        <p:txBody>
          <a:bodyPr/>
          <a:lstStyle>
            <a:lvl1pPr>
              <a:defRPr/>
            </a:lvl1pPr>
          </a:lstStyle>
          <a:p>
            <a:pPr>
              <a:defRPr/>
            </a:pPr>
            <a:endParaRPr lang="it-IT"/>
          </a:p>
        </p:txBody>
      </p:sp>
      <p:sp>
        <p:nvSpPr>
          <p:cNvPr id="7" name="Segnaposto numero diapositiva 5"/>
          <p:cNvSpPr>
            <a:spLocks noGrp="1"/>
          </p:cNvSpPr>
          <p:nvPr>
            <p:ph type="sldNum" sz="quarter" idx="12"/>
          </p:nvPr>
        </p:nvSpPr>
        <p:spPr/>
        <p:txBody>
          <a:bodyPr/>
          <a:lstStyle>
            <a:lvl1pPr>
              <a:defRPr/>
            </a:lvl1pPr>
          </a:lstStyle>
          <a:p>
            <a:pPr>
              <a:defRPr/>
            </a:pPr>
            <a:fld id="{5C183E3B-20D5-4455-A2A5-79646AC71FBC}" type="slidenum">
              <a:rPr lang="it-IT"/>
              <a:pPr>
                <a:defRPr/>
              </a:pPr>
              <a:t>‹#›</a:t>
            </a:fld>
            <a:endParaRPr lang="it-IT"/>
          </a:p>
        </p:txBody>
      </p:sp>
    </p:spTree>
    <p:extLst>
      <p:ext uri="{BB962C8B-B14F-4D97-AF65-F5344CB8AC3E}">
        <p14:creationId xmlns:p14="http://schemas.microsoft.com/office/powerpoint/2010/main" val="66260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lvl1pPr>
              <a:defRPr/>
            </a:lvl1pPr>
          </a:lstStyle>
          <a:p>
            <a:pPr>
              <a:defRPr/>
            </a:pPr>
            <a:fld id="{336B7CA3-F6AA-4F8D-B3A5-B5190E4DA0D9}" type="datetimeFigureOut">
              <a:rPr lang="it-IT"/>
              <a:pPr>
                <a:defRPr/>
              </a:pPr>
              <a:t>11/07/2026</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AE6D47DD-DBFB-4E8D-8207-117C7C82CE20}" type="slidenum">
              <a:rPr lang="it-IT"/>
              <a:pPr>
                <a:defRPr/>
              </a:pPr>
              <a:t>‹#›</a:t>
            </a:fld>
            <a:endParaRPr lang="it-IT"/>
          </a:p>
        </p:txBody>
      </p:sp>
    </p:spTree>
    <p:extLst>
      <p:ext uri="{BB962C8B-B14F-4D97-AF65-F5344CB8AC3E}">
        <p14:creationId xmlns:p14="http://schemas.microsoft.com/office/powerpoint/2010/main" val="369828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lvl1pPr>
              <a:defRPr/>
            </a:lvl1pPr>
          </a:lstStyle>
          <a:p>
            <a:pPr>
              <a:defRPr/>
            </a:pPr>
            <a:fld id="{503477EC-8CD1-45DA-9726-69E4B67F9162}" type="datetimeFigureOut">
              <a:rPr lang="it-IT"/>
              <a:pPr>
                <a:defRPr/>
              </a:pPr>
              <a:t>11/07/2026</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A5E7365C-AF66-4542-B1B0-4388B6DC1013}" type="slidenum">
              <a:rPr lang="it-IT"/>
              <a:pPr>
                <a:defRPr/>
              </a:pPr>
              <a:t>‹#›</a:t>
            </a:fld>
            <a:endParaRPr lang="it-IT"/>
          </a:p>
        </p:txBody>
      </p:sp>
    </p:spTree>
    <p:extLst>
      <p:ext uri="{BB962C8B-B14F-4D97-AF65-F5344CB8AC3E}">
        <p14:creationId xmlns:p14="http://schemas.microsoft.com/office/powerpoint/2010/main" val="32219389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en-US" smtClean="0"/>
              <a:t>Fare clic per modificare lo stile del titolo</a:t>
            </a:r>
          </a:p>
        </p:txBody>
      </p:sp>
      <p:sp>
        <p:nvSpPr>
          <p:cNvPr id="1027" name="Segnaposto tes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en-US" smtClean="0"/>
              <a:t>Fare clic per modificare stili del testo dello schema</a:t>
            </a:r>
          </a:p>
          <a:p>
            <a:pPr lvl="1"/>
            <a:r>
              <a:rPr lang="it-IT" altLang="en-US" smtClean="0"/>
              <a:t>Secondo livello</a:t>
            </a:r>
          </a:p>
          <a:p>
            <a:pPr lvl="2"/>
            <a:r>
              <a:rPr lang="it-IT" altLang="en-US" smtClean="0"/>
              <a:t>Terzo livello</a:t>
            </a:r>
          </a:p>
          <a:p>
            <a:pPr lvl="3"/>
            <a:r>
              <a:rPr lang="it-IT" altLang="en-US" smtClean="0"/>
              <a:t>Quarto livello</a:t>
            </a:r>
          </a:p>
          <a:p>
            <a:pPr lvl="4"/>
            <a:r>
              <a:rPr lang="it-IT" altLang="en-US" smtClean="0"/>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4038D2C8-3969-4987-986C-3A36C89A46F6}" type="datetimeFigureOut">
              <a:rPr lang="it-IT"/>
              <a:pPr>
                <a:defRPr/>
              </a:pPr>
              <a:t>11/07/2026</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17612B2B-2AA7-48E6-BF3B-AF97DAE81958}" type="slidenum">
              <a:rPr lang="it-IT"/>
              <a:pPr>
                <a:defRPr/>
              </a:pPr>
              <a:t>‹#›</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Il Problema, gli Esempi &amp; l'Obiettivo della Tesi</a:t>
            </a:r>
          </a:p>
        </p:txBody>
      </p:sp>
      <p:sp>
        <p:nvSpPr>
          <p:cNvPr id="3" name="Content Placeholder 2"/>
          <p:cNvSpPr>
            <a:spLocks noGrp="1"/>
          </p:cNvSpPr>
          <p:nvPr>
            <p:ph idx="1"/>
          </p:nvPr>
        </p:nvSpPr>
        <p:spPr>
          <a:xfrm>
            <a:off x="1739900" y="1971675"/>
            <a:ext cx="4885309" cy="4000500"/>
          </a:xfrm>
        </p:spPr>
        <p:txBody>
          <a:bodyPr/>
          <a:lstStyle/>
          <a:p>
            <a:r>
              <a:rPr sz="2800" b="0">
                <a:solidFill>
                  <a:srgbClr val="000000"/>
                </a:solidFill>
                <a:latin typeface="Optima"/>
              </a:rPr>
              <a:t>Acque reflue: farmaci, coloranti e contaminanti difficili da rimuovere</a:t>
            </a:r>
          </a:p>
          <a:p>
            <a:r>
              <a:rPr sz="2800" b="0">
                <a:solidFill>
                  <a:srgbClr val="000000"/>
                </a:solidFill>
                <a:latin typeface="Optima"/>
              </a:rPr>
              <a:t>In letteratura: "spugne molecolari" con buoni risultati sperimentali</a:t>
            </a:r>
          </a:p>
          <a:p>
            <a:r>
              <a:rPr sz="2800" b="0">
                <a:solidFill>
                  <a:srgbClr val="000000"/>
                </a:solidFill>
                <a:latin typeface="Optima"/>
              </a:rPr>
              <a:t>Obiettivo: predire e generare polimeri adsorbenti per via computazionale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6" name="Picture 5" descr="cryogel_dual_sponge_photo.png"/>
          <p:cNvPicPr>
            <a:picLocks noChangeAspect="1"/>
          </p:cNvPicPr>
          <p:nvPr/>
        </p:nvPicPr>
        <p:blipFill>
          <a:blip r:embed="rId3"/>
          <a:stretch>
            <a:fillRect/>
          </a:stretch>
        </p:blipFill>
        <p:spPr>
          <a:xfrm>
            <a:off x="7001002" y="2046522"/>
            <a:ext cx="4133722" cy="385080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Due Sistemi Complementari</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Modello Generativo → nuovi candidati polimerici</a:t>
            </a:r>
          </a:p>
          <a:p>
            <a:r>
              <a:rPr sz="2800" b="0">
                <a:solidFill>
                  <a:srgbClr val="000000"/>
                </a:solidFill>
                <a:latin typeface="Optima"/>
              </a:rPr>
              <a:t>Modello Predittivo → capacità di adsorbimento stimata</a:t>
            </a:r>
          </a:p>
          <a:p>
            <a:r>
              <a:rPr sz="2800" b="0">
                <a:solidFill>
                  <a:srgbClr val="000000"/>
                </a:solidFill>
                <a:latin typeface="Optima"/>
              </a:rPr>
              <a:t>Filtro di dominio a collegarli → un'unica pipeline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Raccolta Dati — Costruzione del Dataset PDCC</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PDCC: Polymer, Drug/Molecola, Concentration, Capacity (+ pH)</a:t>
            </a:r>
          </a:p>
          <a:p>
            <a:r>
              <a:rPr sz="2800" b="0">
                <a:solidFill>
                  <a:srgbClr val="000000"/>
                </a:solidFill>
                <a:latin typeface="Optima"/>
              </a:rPr>
              <a:t>Dati estratti manualmente da articoli pubblicati</a:t>
            </a:r>
          </a:p>
          <a:p>
            <a:r>
              <a:rPr sz="2800" b="0">
                <a:solidFill>
                  <a:srgbClr val="000000"/>
                </a:solidFill>
                <a:latin typeface="Optima"/>
              </a:rPr>
              <a:t>Nessun dataset esistente: base necessaria per tutto il resto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Scarsità di Dati — Un Vincolo Strutturale, Non un Fallimento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"Pochi studi pubblicati sulla capacità polimero-molecola"</a:t>
            </a:r>
          </a:p>
          <a:p>
            <a:r>
              <a:rPr sz="2800" b="0">
                <a:solidFill>
                  <a:srgbClr val="000000"/>
                </a:solidFill>
                <a:latin typeface="Optima"/>
              </a:rPr>
              <a:t>Vincolo strutturale del settore, non un limite del progetto</a:t>
            </a:r>
          </a:p>
          <a:p>
            <a:r>
              <a:rPr sz="2800" b="0">
                <a:solidFill>
                  <a:srgbClr val="000000"/>
                </a:solidFill>
                <a:latin typeface="Optima"/>
              </a:rPr>
              <a:t>La sfida centrale attorno a cui è costruita la metodologia</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SMILES e P-SMILES — Le Notazioni di Base</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SMILES: una molecola come stringa di testo (atomi e legami)</a:t>
            </a:r>
          </a:p>
          <a:p>
            <a:r>
              <a:rPr sz="2800" b="0">
                <a:solidFill>
                  <a:srgbClr val="000000"/>
                </a:solidFill>
                <a:latin typeface="Optima"/>
              </a:rPr>
              <a:t>P-SMILES: lo stesso per l'unità ripetuta di un polimero</a:t>
            </a:r>
          </a:p>
          <a:p>
            <a:r>
              <a:rPr sz="2800" b="0">
                <a:solidFill>
                  <a:srgbClr val="000000"/>
                </a:solidFill>
                <a:latin typeface="Optima"/>
              </a:rPr>
              <a:t>Tutta la pipeline lavora su queste rappresentazioni testuali</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Pipeline di Featurizzazione</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SMILES / P-SMILES → proprietà fisico-chimiche rilevanti</a:t>
            </a:r>
          </a:p>
          <a:p>
            <a:r>
              <a:rPr sz="2800" b="0">
                <a:solidFill>
                  <a:srgbClr val="000000"/>
                </a:solidFill>
                <a:latin typeface="Optima"/>
              </a:rPr>
              <a:t>Da rappresentazione testuale a vettore di feature numeriche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Gestire Dati Sparsi — Interpolazione</a:t>
            </a:r>
          </a:p>
        </p:txBody>
      </p:sp>
      <p:sp>
        <p:nvSpPr>
          <p:cNvPr id="3" name="Content Placeholder 2"/>
          <p:cNvSpPr>
            <a:spLocks noGrp="1"/>
          </p:cNvSpPr>
          <p:nvPr>
            <p:ph idx="1"/>
          </p:nvPr>
        </p:nvSpPr>
        <p:spPr>
          <a:xfrm>
            <a:off x="1739900" y="1971675"/>
            <a:ext cx="4885309" cy="4000500"/>
          </a:xfrm>
        </p:spPr>
        <p:txBody>
          <a:bodyPr/>
          <a:lstStyle/>
          <a:p>
            <a:r>
              <a:rPr sz="2800" b="0">
                <a:solidFill>
                  <a:srgbClr val="000000"/>
                </a:solidFill>
                <a:latin typeface="Optima"/>
              </a:rPr>
              <a:t>Pochi punti sperimentali, andamento regolare → interpolazione</a:t>
            </a:r>
          </a:p>
          <a:p>
            <a:r>
              <a:rPr sz="2800" b="0">
                <a:solidFill>
                  <a:srgbClr val="000000"/>
                </a:solidFill>
                <a:latin typeface="Optima"/>
              </a:rPr>
              <a:t>Aggiunta del punto (0,0): a concentrazione zero, adsorbimento zero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6" name="Picture 5" descr="oxazoline_capacity_indomethacin_oestradiol_ibuprofen.png"/>
          <p:cNvPicPr>
            <a:picLocks noChangeAspect="1"/>
          </p:cNvPicPr>
          <p:nvPr/>
        </p:nvPicPr>
        <p:blipFill>
          <a:blip r:embed="rId3"/>
          <a:stretch>
            <a:fillRect/>
          </a:stretch>
        </p:blipFill>
        <p:spPr>
          <a:xfrm>
            <a:off x="7001003" y="3274949"/>
            <a:ext cx="2040238" cy="1393952"/>
          </a:xfrm>
          <a:prstGeom prst="rect">
            <a:avLst/>
          </a:prstGeom>
        </p:spPr>
      </p:pic>
      <p:pic>
        <p:nvPicPr>
          <p:cNvPr id="7" name="Picture 6" descr="cryogel_cmegl_kinetics_piroxicam.png"/>
          <p:cNvPicPr>
            <a:picLocks noChangeAspect="1"/>
          </p:cNvPicPr>
          <p:nvPr/>
        </p:nvPicPr>
        <p:blipFill>
          <a:blip r:embed="rId4"/>
          <a:stretch>
            <a:fillRect/>
          </a:stretch>
        </p:blipFill>
        <p:spPr>
          <a:xfrm>
            <a:off x="9269841" y="3274949"/>
            <a:ext cx="1864881" cy="1393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Modellazione Generativa — Approccio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Wrapper attorno a mingpt addestrato su token SMILES / P-SMILES</a:t>
            </a:r>
          </a:p>
          <a:p>
            <a:r>
              <a:rPr sz="2800" b="0">
                <a:solidFill>
                  <a:srgbClr val="000000"/>
                </a:solidFill>
                <a:latin typeface="Optima"/>
              </a:rPr>
              <a:t>Impara la "grammatica" chimica → strutture nuove e valide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Modellazione Generativa — Risultati</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SMILES: 5525 / 12800 nuovi e validi</a:t>
            </a:r>
          </a:p>
          <a:p>
            <a:r>
              <a:rPr sz="2800" b="0">
                <a:solidFill>
                  <a:srgbClr val="000000"/>
                </a:solidFill>
                <a:latin typeface="Optima"/>
              </a:rPr>
              <a:t>P-SMILES: 7373 / 12800 nuovi e validi</a:t>
            </a:r>
          </a:p>
          <a:p>
            <a:r>
              <a:rPr sz="2800" b="0">
                <a:solidFill>
                  <a:srgbClr val="000000"/>
                </a:solidFill>
                <a:latin typeface="Optima"/>
              </a:rPr>
              <a:t>Decine di migliaia di candidati generabili in poche ore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Modellazione Predittiva — Metodologia (LOOCV)</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Leave-One-Out CV su molte configurazioni di iperparametri</a:t>
            </a:r>
          </a:p>
          <a:p>
            <a:r>
              <a:rPr sz="2800" b="0">
                <a:solidFill>
                  <a:srgbClr val="000000"/>
                </a:solidFill>
                <a:latin typeface="Optima"/>
              </a:rPr>
              <a:t>Classificate per Q2 → selezione della configurazione migliore</a:t>
            </a:r>
          </a:p>
          <a:p>
            <a:r>
              <a:rPr sz="2800" b="0">
                <a:solidFill>
                  <a:srgbClr val="000000"/>
                </a:solidFill>
                <a:latin typeface="Optima"/>
              </a:rPr>
              <a:t>Modello finale: PSCP — "PSmileCapacityPredictor"</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PSCP — Cosa Predice Davvero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Input: polimero + molecola + concentrazione + pH</a:t>
            </a:r>
          </a:p>
          <a:p>
            <a:r>
              <a:rPr sz="2800" b="0">
                <a:solidFill>
                  <a:srgbClr val="000000"/>
                </a:solidFill>
                <a:latin typeface="Optima"/>
              </a:rPr>
              <a:t>Output: capacità di adsorbimento predetta</a:t>
            </a:r>
          </a:p>
          <a:p>
            <a:r>
              <a:rPr sz="2800" b="0">
                <a:solidFill>
                  <a:srgbClr val="000000"/>
                </a:solidFill>
                <a:latin typeface="Optima"/>
              </a:rPr>
              <a:t>Un unico modello per tutte le condizioni sperimentali rilevanti</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Featurizzare i Polimeri — Un Contributo Metodologico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rdkit non supporta i polimeri, solo le molecole</a:t>
            </a:r>
          </a:p>
          <a:p>
            <a:r>
              <a:rPr sz="2800" b="0">
                <a:solidFill>
                  <a:srgbClr val="000000"/>
                </a:solidFill>
                <a:latin typeface="Optima"/>
              </a:rPr>
              <a:t>Soluzione: SMILES del monomero "tappato" con idrogeno</a:t>
            </a:r>
          </a:p>
          <a:p>
            <a:r>
              <a:rPr sz="2800" b="0">
                <a:solidFill>
                  <a:srgbClr val="000000"/>
                </a:solidFill>
                <a:latin typeface="Optima"/>
              </a:rPr>
              <a:t>Trattato come molecola → logP, SA score estraibili</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Modellazione Predittiva — Risultati (Q2)</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Migliore configurazione: experiment_hd_16_8_4_4_4</a:t>
            </a:r>
          </a:p>
          <a:p>
            <a:r>
              <a:rPr sz="2800" b="0">
                <a:solidFill>
                  <a:srgbClr val="000000"/>
                </a:solidFill>
                <a:latin typeface="Optima"/>
              </a:rPr>
              <a:t>Q2 = 0,984 — MAE = 1,50 — RMSE = 6,49</a:t>
            </a:r>
          </a:p>
          <a:p>
            <a:r>
              <a:rPr sz="2800" b="0">
                <a:solidFill>
                  <a:srgbClr val="000000"/>
                </a:solidFill>
                <a:latin typeface="Optima"/>
              </a:rPr>
              <a:t>Proof-of-concept validato sui dati oggi disponibili</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Filtraggio dei Polimeri — Criteri della Teoria FMO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logP alto → il polimero resta solido e insolubile in acqua</a:t>
            </a:r>
          </a:p>
          <a:p>
            <a:r>
              <a:rPr sz="2800" b="0">
                <a:solidFill>
                  <a:srgbClr val="000000"/>
                </a:solidFill>
                <a:latin typeface="Optima"/>
              </a:rPr>
              <a:t>TPSA più alto → siti di legame polari</a:t>
            </a:r>
          </a:p>
          <a:p>
            <a:r>
              <a:rPr sz="2800" b="0">
                <a:solidFill>
                  <a:srgbClr val="000000"/>
                </a:solidFill>
                <a:latin typeface="Optima"/>
              </a:rPr>
              <a:t>Gap FMO intermolecolare più basso → legame donatore-accettore più forte</a:t>
            </a:r>
          </a:p>
          <a:p>
            <a:r>
              <a:rPr sz="2800" b="0">
                <a:solidFill>
                  <a:srgbClr val="000000"/>
                </a:solidFill>
                <a:latin typeface="Optima"/>
              </a:rPr>
              <a:t>SA score più basso → sintetizzabile su scala</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Un Filtro Modulare, e Volutamente Aggressivo</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10.000+ P-SMILES generati in poche ore</a:t>
            </a:r>
          </a:p>
          <a:p>
            <a:r>
              <a:rPr sz="2800" b="0">
                <a:solidFill>
                  <a:srgbClr val="000000"/>
                </a:solidFill>
                <a:latin typeface="Optima"/>
              </a:rPr>
              <a:t>Filtro FMO / logP / TPSA / SA → pochi candidati sopravvivono</a:t>
            </a:r>
          </a:p>
          <a:p>
            <a:r>
              <a:rPr sz="2800" b="0">
                <a:solidFill>
                  <a:srgbClr val="000000"/>
                </a:solidFill>
                <a:latin typeface="Optima"/>
              </a:rPr>
              <a:t>Filtro modulare e sostituibile senza toccare il resto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Esplorazione Non Supervisionata — Clustering Gerarchico</a:t>
            </a:r>
          </a:p>
        </p:txBody>
      </p:sp>
      <p:sp>
        <p:nvSpPr>
          <p:cNvPr id="3" name="Content Placeholder 2"/>
          <p:cNvSpPr>
            <a:spLocks noGrp="1"/>
          </p:cNvSpPr>
          <p:nvPr>
            <p:ph idx="1"/>
          </p:nvPr>
        </p:nvSpPr>
        <p:spPr>
          <a:xfrm>
            <a:off x="1739900" y="1971675"/>
            <a:ext cx="4885309" cy="4000500"/>
          </a:xfrm>
        </p:spPr>
        <p:txBody>
          <a:bodyPr/>
          <a:lstStyle/>
          <a:p>
            <a:r>
              <a:rPr sz="2800" b="0">
                <a:solidFill>
                  <a:srgbClr val="000000"/>
                </a:solidFill>
                <a:latin typeface="Optima"/>
              </a:rPr>
              <a:t>Clustering gerarchico agglomerativo sulle coppie polimero-molecola</a:t>
            </a:r>
          </a:p>
          <a:p>
            <a:r>
              <a:rPr sz="2800" b="0">
                <a:solidFill>
                  <a:srgbClr val="000000"/>
                </a:solidFill>
                <a:latin typeface="Optima"/>
              </a:rPr>
              <a:t>Silhouette score con picco a 63 cluster → dataset molto eterogeneo</a:t>
            </a:r>
          </a:p>
          <a:p>
            <a:r>
              <a:rPr sz="2800" b="0">
                <a:solidFill>
                  <a:srgbClr val="000000"/>
                </a:solidFill>
                <a:latin typeface="Optima"/>
              </a:rPr>
              <a:t>Strumento esplorativo e di interpretabilità, non risultato predittivo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6" name="Picture 5" descr="ahc_dendrogram.png"/>
          <p:cNvPicPr>
            <a:picLocks noChangeAspect="1"/>
          </p:cNvPicPr>
          <p:nvPr/>
        </p:nvPicPr>
        <p:blipFill>
          <a:blip r:embed="rId3"/>
          <a:stretch>
            <a:fillRect/>
          </a:stretch>
        </p:blipFill>
        <p:spPr>
          <a:xfrm>
            <a:off x="7001002" y="2938494"/>
            <a:ext cx="4133722" cy="206686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La Pipeline Integrata Completa</a:t>
            </a:r>
          </a:p>
        </p:txBody>
      </p:sp>
      <p:sp>
        <p:nvSpPr>
          <p:cNvPr id="3" name="Content Placeholder 2"/>
          <p:cNvSpPr>
            <a:spLocks noGrp="1"/>
          </p:cNvSpPr>
          <p:nvPr>
            <p:ph idx="1"/>
          </p:nvPr>
        </p:nvSpPr>
        <p:spPr>
          <a:xfrm>
            <a:off x="1739900" y="1971675"/>
            <a:ext cx="4885309" cy="4000500"/>
          </a:xfrm>
        </p:spPr>
        <p:txBody>
          <a:bodyPr/>
          <a:lstStyle/>
          <a:p>
            <a:r>
              <a:rPr sz="2800" b="0">
                <a:solidFill>
                  <a:srgbClr val="000000"/>
                </a:solidFill>
                <a:latin typeface="Optima"/>
              </a:rPr>
              <a:t>find_polymer_for_target_molecule: molecola target → polimeri candidati</a:t>
            </a:r>
          </a:p>
          <a:p>
            <a:r>
              <a:rPr sz="2800" b="0">
                <a:solidFill>
                  <a:srgbClr val="000000"/>
                </a:solidFill>
                <a:latin typeface="Optima"/>
              </a:rPr>
              <a:t>Genera (mingpt) → filtra (FMO/logP/TPSA/SA) → predici (PSCP) → ripeti</a:t>
            </a:r>
          </a:p>
          <a:p>
            <a:r>
              <a:rPr sz="2800" b="0">
                <a:solidFill>
                  <a:srgbClr val="000000"/>
                </a:solidFill>
                <a:latin typeface="Optima"/>
              </a:rPr>
              <a:t>Componenti modulari: filtri e modelli sostituibili</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6" name="Picture 5" descr="plot_conc_aspirin.png"/>
          <p:cNvPicPr>
            <a:picLocks noChangeAspect="1"/>
          </p:cNvPicPr>
          <p:nvPr/>
        </p:nvPicPr>
        <p:blipFill>
          <a:blip r:embed="rId3"/>
          <a:stretch>
            <a:fillRect/>
          </a:stretch>
        </p:blipFill>
        <p:spPr>
          <a:xfrm>
            <a:off x="7001003" y="2678718"/>
            <a:ext cx="4133721" cy="258641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Ampliare i Dati — Il Tool paper_scraper</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OpenAlex (paper open access) → Grobid (estrazione testo) → LLM → PDCC</a:t>
            </a:r>
          </a:p>
          <a:p>
            <a:r>
              <a:rPr sz="2800" b="0">
                <a:solidFill>
                  <a:srgbClr val="000000"/>
                </a:solidFill>
                <a:latin typeface="Optima"/>
              </a:rPr>
              <a:t>LLM testati: Gemma, DeepSeek, Kimi, Claude Opus</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Prospettive sulla Scarsità di Dati</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Oggi: pochi paper disponibili</a:t>
            </a:r>
          </a:p>
          <a:p>
            <a:r>
              <a:rPr sz="2800" b="0">
                <a:solidFill>
                  <a:srgbClr val="000000"/>
                </a:solidFill>
                <a:latin typeface="Optima"/>
              </a:rPr>
              <a:t>Domani: più paper pubblicati + LLM migliori e più economici</a:t>
            </a:r>
          </a:p>
          <a:p>
            <a:r>
              <a:rPr sz="2800" b="0">
                <a:solidFill>
                  <a:srgbClr val="000000"/>
                </a:solidFill>
                <a:latin typeface="Optima"/>
              </a:rPr>
              <a:t>→ dataset PDCC più grande, in modo via via più automatico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Limiti — Dati &amp; Validazione</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Dati: scarsità di misurazioni pubblicate, nessun risultato negativo</a:t>
            </a:r>
          </a:p>
          <a:p>
            <a:r>
              <a:rPr sz="2800" b="0">
                <a:solidFill>
                  <a:srgbClr val="000000"/>
                </a:solidFill>
                <a:latin typeface="Optima"/>
              </a:rPr>
              <a:t>Validazione: nessuna conferma in laboratorio, solo computazionale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Limiti — Ambito &amp; Scelte di Modellazione</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Addestrato su PI1M (sintetico), non sul proprietario PolyInfo</a:t>
            </a:r>
          </a:p>
          <a:p>
            <a:r>
              <a:rPr sz="2800" b="0">
                <a:solidFill>
                  <a:srgbClr val="000000"/>
                </a:solidFill>
                <a:latin typeface="Optima"/>
              </a:rPr>
              <a:t>Conversione in P-SMILES ancora manuale e limitata</a:t>
            </a:r>
          </a:p>
          <a:p>
            <a:r>
              <a:rPr sz="2800" b="0">
                <a:solidFill>
                  <a:srgbClr val="000000"/>
                </a:solidFill>
                <a:latin typeface="Optima"/>
              </a:rPr>
              <a:t>Solo polimero singolo: nessun composito multi-materiale</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019300" y="542925"/>
            <a:ext cx="6934200" cy="954088"/>
          </a:xfrm>
        </p:spPr>
        <p:txBody>
          <a:bodyPr/>
          <a:lstStyle/>
          <a:p>
            <a:r>
              <a:rPr sz="2800" b="0" cap="all">
                <a:solidFill>
                  <a:srgbClr val="000000"/>
                </a:solidFill>
                <a:latin typeface="Optima"/>
              </a:rPr>
              <a:t>Sviluppi Futuri</a:t>
            </a:r>
          </a:p>
        </p:txBody>
      </p:sp>
      <p:sp>
        <p:nvSpPr>
          <p:cNvPr id="3" name="Content Placeholder 2"/>
          <p:cNvSpPr>
            <a:spLocks noGrp="1"/>
          </p:cNvSpPr>
          <p:nvPr>
            <p:ph idx="1"/>
          </p:nvPr>
        </p:nvSpPr>
        <p:spPr>
          <a:xfrm>
            <a:off x="1739900" y="1971675"/>
            <a:ext cx="9394825" cy="4000500"/>
          </a:xfrm>
        </p:spPr>
        <p:txBody>
          <a:bodyPr/>
          <a:lstStyle/>
          <a:p>
            <a:r>
              <a:rPr sz="2800" b="0">
                <a:solidFill>
                  <a:srgbClr val="000000"/>
                </a:solidFill>
                <a:latin typeface="Optima"/>
              </a:rPr>
              <a:t>Più dati, in particolare risultati negativi (anche via paper_scraper)</a:t>
            </a:r>
          </a:p>
          <a:p>
            <a:r>
              <a:rPr sz="2800" b="0">
                <a:solidFill>
                  <a:srgbClr val="000000"/>
                </a:solidFill>
                <a:latin typeface="Optima"/>
              </a:rPr>
              <a:t>Notazioni alternative (BigSmiles) e architetture GNN</a:t>
            </a:r>
          </a:p>
          <a:p>
            <a:r>
              <a:rPr sz="2800" b="0">
                <a:solidFill>
                  <a:srgbClr val="000000"/>
                </a:solidFill>
                <a:latin typeface="Optima"/>
              </a:rPr>
              <a:t>Accesso a PolyInfo; input multi-materiale e a doppio polimero</a:t>
            </a:r>
          </a:p>
        </p:txBody>
      </p:sp>
      <p:pic>
        <p:nvPicPr>
          <p:cNvPr id="4" name="Picture 3" descr="logo_small.png"/>
          <p:cNvPicPr>
            <a:picLocks noChangeAspect="1"/>
          </p:cNvPicPr>
          <p:nvPr/>
        </p:nvPicPr>
        <p:blipFill>
          <a:blip r:embed="rId2"/>
          <a:stretch>
            <a:fillRect/>
          </a:stretch>
        </p:blipFill>
        <p:spPr>
          <a:xfrm>
            <a:off x="449263" y="412750"/>
            <a:ext cx="1127125" cy="1162050"/>
          </a:xfrm>
          <a:prstGeom prst="rect">
            <a:avLst/>
          </a:prstGeom>
        </p:spPr>
      </p:pic>
      <p:cxnSp>
        <p:nvCxnSpPr>
          <p:cNvPr id="5" name="Connector 4"/>
          <p:cNvCxnSpPr/>
          <p:nvPr/>
        </p:nvCxnSpPr>
        <p:spPr>
          <a:xfrm>
            <a:off x="1730375" y="331788"/>
            <a:ext cx="0" cy="1323975"/>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zione_copertina.potx" id="{8C29E7C1-C87C-4FCC-9C43-2E1E8B45E1B1}" vid="{6BDFA3AF-07A8-429C-8068-1599AA0DCF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227</TotalTime>
  <Words>619</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Arial</vt:lpstr>
      <vt:lpstr>Calibri Light</vt:lpstr>
      <vt:lpstr>Optima</vt:lpstr>
      <vt:lpstr>Wingdings 3</vt: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Majuri Anna</dc:creator>
  <cp:lastModifiedBy>Convertio</cp:lastModifiedBy>
  <cp:revision>11</cp:revision>
  <dcterms:created xsi:type="dcterms:W3CDTF">2021-03-18T08:28:47Z</dcterms:created>
  <dcterms:modified xsi:type="dcterms:W3CDTF">2026-07-11T13:57:28Z</dcterms:modified>
</cp:coreProperties>
</file>