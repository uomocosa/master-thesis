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it-IT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38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Partiamo dal problema: le acque reflue contengono molecole inquinanti — farmaci, coloranti, altri contaminanti — che i trattamenti standard faticano a rimuovere in modo mirato. In letteratura esistono già esempi di "spugne molecolari", polimeri progettati per adsorbire selettivamente queste molecole, con risultati sperimentali incoraggianti. Il problema è che ogni nuovo polimero richiede tipicamente sintesi e test in laboratorio, un processo lento e costoso. L'obiettivo della mia tesi è quindi predire e generare polimeri — le "spugne molecolari" — capaci di adsorbire molecole inquinanti target dalle acque reflue, ma per via computazionale: invece di scegliere a mano un polimero e testarlo in laboratorio, ho costruito una pipeline in grado di proporre e valutare automaticamente polimeri candidati.</a:t>
            </a:r>
          </a:p>
          <a:p/>
          <a:p>
            <a:r>
              <a:t>TODO:</a:t>
            </a:r>
          </a:p>
          <a:p>
            <a:r>
              <a:t>- Trovare una foto generica di acque reflue contaminate e un diagramma schematico polimero-spugna/molecola (non presenti nel vault Obsidian). Altre figure disponibili: vedi create_slides/assets/papers/paper_mapping.json.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79760E-CB2C-403A-B237-A5B0A204F263}" type="datetimeFigureOut">
              <a:rPr lang="it-IT"/>
              <a:pPr>
                <a:defRPr/>
              </a:pPr>
              <a:t>11/07/2026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6EBB52-CA95-4950-9FB5-C89FC0B1633F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7997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E5BDD3-3D54-4F90-8B00-F4A4A294D858}" type="datetimeFigureOut">
              <a:rPr lang="it-IT"/>
              <a:pPr>
                <a:defRPr/>
              </a:pPr>
              <a:t>11/07/2026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DAFFDA-496F-418F-92A9-47908C0508ED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468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9D7F83-E6F4-4FCA-8BBC-DF66CB14678E}" type="datetimeFigureOut">
              <a:rPr lang="it-IT"/>
              <a:pPr>
                <a:defRPr/>
              </a:pPr>
              <a:t>11/07/2026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288ED4-C856-49A5-8D6A-E23D259839C2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52558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922465-B775-4053-86F3-263AA3B6850E}" type="datetimeFigureOut">
              <a:rPr lang="it-IT"/>
              <a:pPr>
                <a:defRPr/>
              </a:pPr>
              <a:t>11/07/2026</a:t>
            </a:fld>
            <a:endParaRPr lang="it-IT"/>
          </a:p>
        </p:txBody>
      </p:sp>
      <p:sp>
        <p:nvSpPr>
          <p:cNvPr id="6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0AF790-FD91-46F0-9C59-9E89E9CEEF86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67237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890D12-EAB8-4DC5-B485-C26391EFB6ED}" type="datetimeFigureOut">
              <a:rPr lang="it-IT"/>
              <a:pPr>
                <a:defRPr/>
              </a:pPr>
              <a:t>11/07/2026</a:t>
            </a:fld>
            <a:endParaRPr lang="it-IT"/>
          </a:p>
        </p:txBody>
      </p:sp>
      <p:sp>
        <p:nvSpPr>
          <p:cNvPr id="8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0C92C2-AF2E-43B0-83B9-92AFF9297B98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00522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F41D13-2FFE-4D21-A237-5C7666BE692F}" type="datetimeFigureOut">
              <a:rPr lang="it-IT"/>
              <a:pPr>
                <a:defRPr/>
              </a:pPr>
              <a:t>11/07/2026</a:t>
            </a:fld>
            <a:endParaRPr lang="it-IT"/>
          </a:p>
        </p:txBody>
      </p:sp>
      <p:sp>
        <p:nvSpPr>
          <p:cNvPr id="4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6D265A-7CDB-4227-86AF-9EDC808BFAE0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14065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EE42A5-601A-43A3-8C21-EB1AA6FAC17E}" type="datetimeFigureOut">
              <a:rPr lang="it-IT"/>
              <a:pPr>
                <a:defRPr/>
              </a:pPr>
              <a:t>11/07/2026</a:t>
            </a:fld>
            <a:endParaRPr lang="it-IT"/>
          </a:p>
        </p:txBody>
      </p:sp>
      <p:sp>
        <p:nvSpPr>
          <p:cNvPr id="3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CAB049-40BA-4DC6-BF34-8A65B43F289C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038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C96D94-9D15-439E-9CE7-937E9897F0E7}" type="datetimeFigureOut">
              <a:rPr lang="it-IT"/>
              <a:pPr>
                <a:defRPr/>
              </a:pPr>
              <a:t>11/07/2026</a:t>
            </a:fld>
            <a:endParaRPr lang="it-IT"/>
          </a:p>
        </p:txBody>
      </p:sp>
      <p:sp>
        <p:nvSpPr>
          <p:cNvPr id="6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F179B4-80BB-4699-BDFD-F54CAE1E846C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26580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84894D-BC3F-4DBB-B5CF-B9D305AC82C9}" type="datetimeFigureOut">
              <a:rPr lang="it-IT"/>
              <a:pPr>
                <a:defRPr/>
              </a:pPr>
              <a:t>11/07/2026</a:t>
            </a:fld>
            <a:endParaRPr lang="it-IT"/>
          </a:p>
        </p:txBody>
      </p:sp>
      <p:sp>
        <p:nvSpPr>
          <p:cNvPr id="6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183E3B-20D5-4455-A2A5-79646AC71FBC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6260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6B7CA3-F6AA-4F8D-B3A5-B5190E4DA0D9}" type="datetimeFigureOut">
              <a:rPr lang="it-IT"/>
              <a:pPr>
                <a:defRPr/>
              </a:pPr>
              <a:t>11/07/2026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6D47DD-DBFB-4E8D-8207-117C7C82CE20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98287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3477EC-8CD1-45DA-9726-69E4B67F9162}" type="datetimeFigureOut">
              <a:rPr lang="it-IT"/>
              <a:pPr>
                <a:defRPr/>
              </a:pPr>
              <a:t>11/07/2026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E7365C-AF66-4542-B1B0-4388B6DC1013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2193896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Segnaposto titolo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en-US" smtClean="0"/>
              <a:t>Fare clic per modificare lo stile del titolo</a:t>
            </a:r>
          </a:p>
        </p:txBody>
      </p:sp>
      <p:sp>
        <p:nvSpPr>
          <p:cNvPr id="1027" name="Segnaposto testo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en-US" smtClean="0"/>
              <a:t>Fare clic per modificare stili del testo dello schema</a:t>
            </a:r>
          </a:p>
          <a:p>
            <a:pPr lvl="1"/>
            <a:r>
              <a:rPr lang="it-IT" altLang="en-US" smtClean="0"/>
              <a:t>Secondo livello</a:t>
            </a:r>
          </a:p>
          <a:p>
            <a:pPr lvl="2"/>
            <a:r>
              <a:rPr lang="it-IT" altLang="en-US" smtClean="0"/>
              <a:t>Terzo livello</a:t>
            </a:r>
          </a:p>
          <a:p>
            <a:pPr lvl="3"/>
            <a:r>
              <a:rPr lang="it-IT" altLang="en-US" smtClean="0"/>
              <a:t>Quarto livello</a:t>
            </a:r>
          </a:p>
          <a:p>
            <a:pPr lvl="4"/>
            <a:r>
              <a:rPr lang="it-IT" altLang="en-US" smtClean="0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4038D2C8-3969-4987-986C-3A36C89A46F6}" type="datetimeFigureOut">
              <a:rPr lang="it-IT"/>
              <a:pPr>
                <a:defRPr/>
              </a:pPr>
              <a:t>11/07/2026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7612B2B-2AA7-48E6-BF3B-AF97DAE81958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9300" y="542925"/>
            <a:ext cx="6934200" cy="954088"/>
          </a:xfrm>
        </p:spPr>
        <p:txBody>
          <a:bodyPr/>
          <a:lstStyle/>
          <a:p>
            <a:r>
              <a:rPr sz="2800" b="0" cap="all">
                <a:solidFill>
                  <a:srgbClr val="000000"/>
                </a:solidFill>
                <a:latin typeface="Optima"/>
              </a:rPr>
              <a:t>Il Problema, gli Esempi &amp; l'Obiettivo della Tesi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9900" y="1971675"/>
            <a:ext cx="9394825" cy="4000500"/>
          </a:xfrm>
        </p:spPr>
        <p:txBody>
          <a:bodyPr/>
          <a:lstStyle/>
          <a:p>
            <a:r>
              <a:rPr sz="2800" b="0">
                <a:solidFill>
                  <a:srgbClr val="000000"/>
                </a:solidFill>
                <a:latin typeface="Optima"/>
              </a:rPr>
              <a:t>Spugne polimeriche (cryogel) per contaminanti emergenti — Eur. Polym. J. 2022</a:t>
            </a:r>
          </a:p>
          <a:p>
            <a:r>
              <a:rPr sz="2800" b="0">
                <a:solidFill>
                  <a:srgbClr val="000000"/>
                </a:solidFill>
                <a:latin typeface="Optima"/>
              </a:rPr>
              <a:t>Spugna "dual": rimozione simultanea di due coloranti (~98% e ~95%)</a:t>
            </a:r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263" y="412750"/>
            <a:ext cx="1127125" cy="1162050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1730375" y="331788"/>
            <a:ext cx="0" cy="1323975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cryogel_dual_sponge_cryogelation_sche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9901" y="4175609"/>
            <a:ext cx="5768661" cy="1796566"/>
          </a:xfrm>
          <a:prstGeom prst="rect">
            <a:avLst/>
          </a:prstGeom>
        </p:spPr>
      </p:pic>
      <p:pic>
        <p:nvPicPr>
          <p:cNvPr id="7" name="Picture 6" descr="cryogel_dual_sponge_photo_dye_remov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7162" y="4175609"/>
            <a:ext cx="3397561" cy="179656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zione_copertina.potx" id="{8C29E7C1-C87C-4FCC-9C43-2E1E8B45E1B1}" vid="{6BDFA3AF-07A8-429C-8068-1599AA0DCF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227</TotalTime>
  <Words>619</Words>
  <Application>Microsoft Office PowerPoint</Application>
  <PresentationFormat>Widescreen</PresentationFormat>
  <Paragraphs>60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Calibri</vt:lpstr>
      <vt:lpstr>Arial</vt:lpstr>
      <vt:lpstr>Calibri Light</vt:lpstr>
      <vt:lpstr>Optima</vt:lpstr>
      <vt:lpstr>Wingdings 3</vt:lpstr>
      <vt:lpstr>Tema di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Majuri Anna</dc:creator>
  <cp:lastModifiedBy>Convertio</cp:lastModifiedBy>
  <cp:revision>11</cp:revision>
  <dcterms:created xsi:type="dcterms:W3CDTF">2021-03-18T08:28:47Z</dcterms:created>
  <dcterms:modified xsi:type="dcterms:W3CDTF">2026-07-11T13:57:28Z</dcterms:modified>
</cp:coreProperties>
</file>